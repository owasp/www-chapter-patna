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20"/>
  </p:notesMasterIdLst>
  <p:handoutMasterIdLst>
    <p:handoutMasterId r:id="rId21"/>
  </p:handout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 id="282" r:id="rId14"/>
    <p:sldId id="283" r:id="rId15"/>
    <p:sldId id="284" r:id="rId16"/>
    <p:sldId id="285" r:id="rId17"/>
    <p:sldId id="286" r:id="rId18"/>
    <p:sldId id="281" r:id="rId19"/>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3611"/>
    <a:srgbClr val="A44114"/>
    <a:srgbClr val="F3B99F"/>
    <a:srgbClr val="B94917"/>
    <a:srgbClr val="FF6600"/>
    <a:srgbClr val="000066"/>
    <a:srgbClr val="00002C"/>
    <a:srgbClr val="C4E7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3259C393-9A2B-45A2-8E4E-FAFA5413C1FC}" type="datetime1">
              <a:rPr lang="en-US" altLang="en-US" smtClean="0"/>
              <a:pPr/>
              <a:t>9/2/24</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dirty="0"/>
              <a:t>Add a footer</a:t>
            </a:r>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53158947-7A00-4A76-84B1-1B2119E03B78}" type="datetime1">
              <a:rPr lang="en-US" altLang="en-US" smtClean="0"/>
              <a:pPr/>
              <a:t>9/2/24</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dirty="0"/>
              <a:t>Add a footer</a:t>
            </a:r>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ED91BFB3-8F1B-477F-B96F-8BA65B2D4AD3}" type="datetime1">
              <a:rPr lang="en-US" altLang="en-US" smtClean="0"/>
              <a:pPr/>
              <a:t>9/2/24</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dirty="0"/>
              <a:t>Add a footer</a:t>
            </a:r>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B493DC1E-4DED-43A8-89C3-4163E3A75CBB}" type="datetime1">
              <a:rPr lang="en-US" altLang="en-US" smtClean="0"/>
              <a:pPr/>
              <a:t>9/2/24</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dirty="0"/>
              <a:t>Add a footer</a:t>
            </a:r>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6676BA95-CF00-41A1-A420-966FC66619DA}" type="datetime1">
              <a:rPr lang="en-US" altLang="en-US" smtClean="0"/>
              <a:pPr/>
              <a:t>9/2/24</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dirty="0"/>
              <a:t>Add a footer</a:t>
            </a:r>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D0CD8A93-8C14-4267-B95F-FE4BE0AB69DE}" type="datetime1">
              <a:rPr lang="en-US" altLang="en-US" smtClean="0"/>
              <a:pPr/>
              <a:t>9/2/24</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dirty="0"/>
              <a:t>Add a footer</a:t>
            </a:r>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2E05897D-7D60-41CE-AECE-5AF4DAA0D447}" type="datetime1">
              <a:rPr lang="en-US" altLang="en-US" smtClean="0"/>
              <a:pPr/>
              <a:t>9/2/24</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dirty="0"/>
              <a:t>Add a footer</a:t>
            </a:r>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1919950-C514-47F9-AEFE-38055CCEE8E4}" type="datetime1">
              <a:rPr lang="en-US" altLang="en-US" smtClean="0"/>
              <a:pPr/>
              <a:t>9/2/24</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dirty="0"/>
              <a:t>Add a footer</a:t>
            </a:r>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686D2572-3AEE-4103-AD61-E3B66B0BAB81}" type="datetime1">
              <a:rPr lang="en-US" altLang="en-US" smtClean="0"/>
              <a:pPr/>
              <a:t>9/2/24</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dirty="0"/>
              <a:t>Add a footer</a:t>
            </a:r>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12C67B00-BE02-4BB9-B9A5-D51D0D1A821E}" type="datetime1">
              <a:rPr lang="en-US" altLang="en-US" smtClean="0"/>
              <a:pPr/>
              <a:t>9/2/24</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dirty="0"/>
              <a:t>Add a footer</a:t>
            </a:r>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7FA2D16B-FB7D-484B-A659-F70C0EEA95A8}" type="datetime1">
              <a:rPr lang="en-US" altLang="en-US" smtClean="0"/>
              <a:pPr/>
              <a:t>9/2/24</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dirty="0"/>
              <a:t>Add a footer</a:t>
            </a:r>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375B0982-7648-47FF-97D6-16483483F3D5}" type="datetime1">
              <a:rPr lang="en-US" altLang="en-US" smtClean="0"/>
              <a:pPr/>
              <a:t>9/2/24</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dirty="0"/>
              <a:t>Add a footer</a:t>
            </a:r>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inkedin.com/in/mananjain97"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nmap.org/boo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standards.ieee.org/findstds/standard/802.1X-2010.html" TargetMode="External"/><Relationship Id="rId2" Type="http://schemas.openxmlformats.org/officeDocument/2006/relationships/hyperlink" Target="https://www.gartner.com/reviews/market/network-access-contro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portnox.com/cybersecurity-101/mschapv2/"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medium.com/@manan07/uncommon-physical-breach-to-domain-admin-compromise-b8bcf5d21082"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p:txBody>
          <a:bodyPr/>
          <a:lstStyle/>
          <a:p>
            <a:r>
              <a:rPr lang="en-US" sz="4000" dirty="0"/>
              <a:t>OFFENSIVE SYSTEM AND NETWORK SECURITY</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p:txBody>
          <a:bodyPr>
            <a:normAutofit/>
          </a:bodyPr>
          <a:lstStyle/>
          <a:p>
            <a:r>
              <a:rPr lang="en-US" sz="1600" dirty="0"/>
              <a:t>BY: MANAN JAIN</a:t>
            </a:r>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2B656-4656-4646-A221-7C30814F2E6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F6DABF9E-9B82-4C13-8452-952BD74F6DC7}"/>
              </a:ext>
            </a:extLst>
          </p:cNvPr>
          <p:cNvSpPr>
            <a:spLocks noGrp="1"/>
          </p:cNvSpPr>
          <p:nvPr>
            <p:ph idx="1"/>
          </p:nvPr>
        </p:nvSpPr>
        <p:spPr/>
        <p:txBody>
          <a:bodyPr>
            <a:normAutofit/>
          </a:bodyPr>
          <a:lstStyle/>
          <a:p>
            <a:pPr marL="560070" indent="-514350">
              <a:buFont typeface="+mj-lt"/>
              <a:buAutoNum type="arabicPeriod"/>
            </a:pPr>
            <a:r>
              <a:rPr lang="en-US" sz="2000" dirty="0" err="1"/>
              <a:t>Whoami</a:t>
            </a:r>
            <a:r>
              <a:rPr lang="en-US" sz="2000" dirty="0"/>
              <a:t>?</a:t>
            </a:r>
            <a:br>
              <a:rPr lang="en-US" sz="2000" dirty="0"/>
            </a:br>
            <a:endParaRPr lang="en-US" sz="2000" dirty="0"/>
          </a:p>
          <a:p>
            <a:pPr marL="560070" indent="-514350">
              <a:buFont typeface="+mj-lt"/>
              <a:buAutoNum type="arabicPeriod"/>
            </a:pPr>
            <a:r>
              <a:rPr lang="en-US" sz="2000" dirty="0"/>
              <a:t>Quick Recap of </a:t>
            </a:r>
            <a:r>
              <a:rPr lang="en-US" sz="2000" dirty="0" err="1"/>
              <a:t>nmap</a:t>
            </a:r>
            <a:r>
              <a:rPr lang="en-US" sz="2000" dirty="0"/>
              <a:t> scans.</a:t>
            </a:r>
            <a:br>
              <a:rPr lang="en-US" sz="2000" dirty="0"/>
            </a:br>
            <a:endParaRPr lang="en-US" sz="2000" dirty="0"/>
          </a:p>
          <a:p>
            <a:pPr marL="560070" indent="-514350">
              <a:buFont typeface="+mj-lt"/>
              <a:buAutoNum type="arabicPeriod"/>
            </a:pPr>
            <a:r>
              <a:rPr lang="en-US" sz="2000" dirty="0"/>
              <a:t>Pivoting Techniques- Tunneling into internal network</a:t>
            </a:r>
            <a:br>
              <a:rPr lang="en-US" sz="2000" dirty="0"/>
            </a:br>
            <a:endParaRPr lang="en-US" sz="2000" dirty="0"/>
          </a:p>
          <a:p>
            <a:pPr marL="560070" indent="-514350">
              <a:buFont typeface="+mj-lt"/>
              <a:buAutoNum type="arabicPeriod"/>
            </a:pPr>
            <a:r>
              <a:rPr lang="en-US" sz="2000" dirty="0"/>
              <a:t>NAC Implementations &amp; Bypasses</a:t>
            </a:r>
            <a:br>
              <a:rPr lang="en-US" sz="2000" dirty="0"/>
            </a:br>
            <a:endParaRPr lang="en-US" sz="2000" dirty="0"/>
          </a:p>
          <a:p>
            <a:pPr marL="560070" indent="-514350">
              <a:buFont typeface="+mj-lt"/>
              <a:buAutoNum type="arabicPeriod"/>
            </a:pPr>
            <a:r>
              <a:rPr lang="en-US" sz="2000" dirty="0"/>
              <a:t>Privilege Escalation Techniques.</a:t>
            </a:r>
          </a:p>
          <a:p>
            <a:endParaRPr lang="en-US" sz="2000" dirty="0"/>
          </a:p>
          <a:p>
            <a:pPr marL="560070" indent="-514350">
              <a:buFont typeface="+mj-lt"/>
              <a:buAutoNum type="arabicPeriod"/>
            </a:pPr>
            <a:endParaRPr lang="en-US" sz="2000" dirty="0"/>
          </a:p>
        </p:txBody>
      </p:sp>
    </p:spTree>
    <p:extLst>
      <p:ext uri="{BB962C8B-B14F-4D97-AF65-F5344CB8AC3E}">
        <p14:creationId xmlns:p14="http://schemas.microsoft.com/office/powerpoint/2010/main" val="3190566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83800-1E6B-4A93-87D3-3D70E59B3CEE}"/>
              </a:ext>
            </a:extLst>
          </p:cNvPr>
          <p:cNvSpPr>
            <a:spLocks noGrp="1"/>
          </p:cNvSpPr>
          <p:nvPr>
            <p:ph type="title"/>
          </p:nvPr>
        </p:nvSpPr>
        <p:spPr/>
        <p:txBody>
          <a:bodyPr/>
          <a:lstStyle/>
          <a:p>
            <a:r>
              <a:rPr lang="en-US" dirty="0"/>
              <a:t>Who am </a:t>
            </a:r>
            <a:r>
              <a:rPr lang="en-US" dirty="0" err="1"/>
              <a:t>i</a:t>
            </a:r>
            <a:r>
              <a:rPr lang="en-US" dirty="0"/>
              <a:t>?</a:t>
            </a:r>
          </a:p>
        </p:txBody>
      </p:sp>
      <p:sp>
        <p:nvSpPr>
          <p:cNvPr id="3" name="Content Placeholder 2">
            <a:extLst>
              <a:ext uri="{FF2B5EF4-FFF2-40B4-BE49-F238E27FC236}">
                <a16:creationId xmlns:a16="http://schemas.microsoft.com/office/drawing/2014/main" id="{138AFC74-2DAB-4FF2-A66B-288CACB8B844}"/>
              </a:ext>
            </a:extLst>
          </p:cNvPr>
          <p:cNvSpPr>
            <a:spLocks noGrp="1"/>
          </p:cNvSpPr>
          <p:nvPr>
            <p:ph idx="1"/>
          </p:nvPr>
        </p:nvSpPr>
        <p:spPr/>
        <p:txBody>
          <a:bodyPr>
            <a:normAutofit/>
          </a:bodyPr>
          <a:lstStyle/>
          <a:p>
            <a:pPr marL="331470" indent="-285750">
              <a:buFont typeface="Arial" panose="020B0604020202020204" pitchFamily="34" charset="0"/>
              <a:buChar char="•"/>
            </a:pPr>
            <a:r>
              <a:rPr lang="en-US" sz="1600" dirty="0"/>
              <a:t>Security Researcher</a:t>
            </a:r>
            <a:br>
              <a:rPr lang="en-US" sz="1600" dirty="0"/>
            </a:br>
            <a:r>
              <a:rPr lang="en-US" sz="1600" dirty="0"/>
              <a:t>Mostly delving into offensive side of the security.</a:t>
            </a:r>
            <a:br>
              <a:rPr lang="en-US" sz="1600" dirty="0"/>
            </a:br>
            <a:endParaRPr lang="en-US" sz="1600" dirty="0"/>
          </a:p>
          <a:p>
            <a:pPr marL="331470" indent="-285750">
              <a:buFont typeface="Arial" panose="020B0604020202020204" pitchFamily="34" charset="0"/>
              <a:buChar char="•"/>
            </a:pPr>
            <a:r>
              <a:rPr lang="en-US" sz="1600" dirty="0"/>
              <a:t>CTF Player</a:t>
            </a:r>
            <a:br>
              <a:rPr lang="en-US" sz="1600" dirty="0"/>
            </a:br>
            <a:endParaRPr lang="en-US" sz="1600" dirty="0"/>
          </a:p>
          <a:p>
            <a:pPr marL="331470" indent="-285750">
              <a:buFont typeface="Arial" panose="020B0604020202020204" pitchFamily="34" charset="0"/>
              <a:buChar char="•"/>
            </a:pPr>
            <a:r>
              <a:rPr lang="en-US" sz="1600" dirty="0"/>
              <a:t>Web3 Enthusiast </a:t>
            </a:r>
            <a:br>
              <a:rPr lang="en-US" sz="1600" dirty="0"/>
            </a:br>
            <a:endParaRPr lang="en-US" sz="1600" dirty="0"/>
          </a:p>
          <a:p>
            <a:pPr marL="331470" indent="-285750">
              <a:buFont typeface="Arial" panose="020B0604020202020204" pitchFamily="34" charset="0"/>
              <a:buChar char="•"/>
            </a:pPr>
            <a:r>
              <a:rPr lang="en-US" sz="1600" dirty="0" err="1"/>
              <a:t>Synack</a:t>
            </a:r>
            <a:r>
              <a:rPr lang="en-US" sz="1600" dirty="0"/>
              <a:t> Red Team Member</a:t>
            </a:r>
            <a:br>
              <a:rPr lang="en-US" sz="1600" dirty="0"/>
            </a:br>
            <a:endParaRPr lang="en-US" sz="1600" dirty="0"/>
          </a:p>
          <a:p>
            <a:pPr marL="331470" indent="-285750">
              <a:buFont typeface="Arial" panose="020B0604020202020204" pitchFamily="34" charset="0"/>
              <a:buChar char="•"/>
            </a:pPr>
            <a:r>
              <a:rPr lang="en-US" sz="1600" dirty="0"/>
              <a:t>OSEP | OSCP | CRTO | CRTE | eCPTXv2 | eCPPTv2 | eJPTv2 Certified</a:t>
            </a:r>
            <a:br>
              <a:rPr lang="en-US" sz="1600" dirty="0"/>
            </a:br>
            <a:endParaRPr lang="en-US" sz="1600" dirty="0"/>
          </a:p>
          <a:p>
            <a:pPr marL="331470" indent="-285750">
              <a:buFont typeface="Arial" panose="020B0604020202020204" pitchFamily="34" charset="0"/>
              <a:buChar char="•"/>
            </a:pPr>
            <a:r>
              <a:rPr lang="en-US" sz="1600" dirty="0"/>
              <a:t>Let’s Connect: </a:t>
            </a:r>
            <a:r>
              <a:rPr lang="en-US" sz="1600" dirty="0">
                <a:hlinkClick r:id="rId2"/>
              </a:rPr>
              <a:t>https://linkedin.com/in/mananjain97</a:t>
            </a:r>
            <a:br>
              <a:rPr lang="en-US" sz="1600" dirty="0"/>
            </a:br>
            <a:endParaRPr lang="en-US" sz="1600" dirty="0"/>
          </a:p>
          <a:p>
            <a:pPr marL="331470" indent="-285750">
              <a:buFont typeface="Arial" panose="020B0604020202020204" pitchFamily="34" charset="0"/>
              <a:buChar char="•"/>
            </a:pPr>
            <a:r>
              <a:rPr lang="en-US" sz="1600" dirty="0"/>
              <a:t>Medium: https://medium.com/@manan07</a:t>
            </a:r>
          </a:p>
        </p:txBody>
      </p:sp>
    </p:spTree>
    <p:extLst>
      <p:ext uri="{BB962C8B-B14F-4D97-AF65-F5344CB8AC3E}">
        <p14:creationId xmlns:p14="http://schemas.microsoft.com/office/powerpoint/2010/main" val="3733441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F8B17-CA98-41AD-988B-68DA804E97D8}"/>
              </a:ext>
            </a:extLst>
          </p:cNvPr>
          <p:cNvSpPr>
            <a:spLocks noGrp="1"/>
          </p:cNvSpPr>
          <p:nvPr>
            <p:ph type="title"/>
          </p:nvPr>
        </p:nvSpPr>
        <p:spPr/>
        <p:txBody>
          <a:bodyPr/>
          <a:lstStyle/>
          <a:p>
            <a:r>
              <a:rPr lang="en-US" dirty="0"/>
              <a:t>Quick Recap of Nmap scans</a:t>
            </a:r>
          </a:p>
        </p:txBody>
      </p:sp>
      <p:sp>
        <p:nvSpPr>
          <p:cNvPr id="3" name="Content Placeholder 2">
            <a:extLst>
              <a:ext uri="{FF2B5EF4-FFF2-40B4-BE49-F238E27FC236}">
                <a16:creationId xmlns:a16="http://schemas.microsoft.com/office/drawing/2014/main" id="{4488E470-4D18-4400-AE5B-F1B78BA44AD5}"/>
              </a:ext>
            </a:extLst>
          </p:cNvPr>
          <p:cNvSpPr>
            <a:spLocks noGrp="1"/>
          </p:cNvSpPr>
          <p:nvPr>
            <p:ph idx="1"/>
          </p:nvPr>
        </p:nvSpPr>
        <p:spPr>
          <a:xfrm>
            <a:off x="76200" y="1524000"/>
            <a:ext cx="8686800" cy="4411663"/>
          </a:xfrm>
        </p:spPr>
        <p:txBody>
          <a:bodyPr>
            <a:normAutofit lnSpcReduction="10000"/>
          </a:bodyPr>
          <a:lstStyle/>
          <a:p>
            <a:r>
              <a:rPr lang="en-US" sz="1600" b="1" dirty="0"/>
              <a:t>TCP SYN SCAN: </a:t>
            </a:r>
            <a:r>
              <a:rPr lang="en-US" sz="1600" dirty="0"/>
              <a:t>(-</a:t>
            </a:r>
            <a:r>
              <a:rPr lang="en-US" sz="1600" dirty="0" err="1"/>
              <a:t>sS</a:t>
            </a:r>
            <a:r>
              <a:rPr lang="en-US" sz="1600" dirty="0"/>
              <a:t>)</a:t>
            </a:r>
            <a:r>
              <a:rPr lang="en-US" sz="1600" b="1" dirty="0"/>
              <a:t> </a:t>
            </a:r>
            <a:r>
              <a:rPr lang="en-US" sz="1600" dirty="0"/>
              <a:t>A TCP SYN Scan is a stealth scan used to determine if ports on a target system are open, closed or filtered. Nmap sends a SYN packet to the target and waits for a response. If the target responds with SYN/ACK packet, the port is considered open and ready to establish a connection. Also known as half open scan since it is a two-way communication channel and scanner doesn't close the open connections</a:t>
            </a:r>
          </a:p>
          <a:p>
            <a:r>
              <a:rPr lang="en-US" sz="1600" b="1" dirty="0"/>
              <a:t>TCP FIN SCAN: </a:t>
            </a:r>
            <a:r>
              <a:rPr lang="en-US" sz="1600" dirty="0"/>
              <a:t>(-</a:t>
            </a:r>
            <a:r>
              <a:rPr lang="en-US" sz="1600" dirty="0" err="1"/>
              <a:t>sF</a:t>
            </a:r>
            <a:r>
              <a:rPr lang="en-US" sz="1600" dirty="0"/>
              <a:t>) Mostly used by attackers in order to bypass the deep inspection firewalls and other scan detection programs. Closed ports will respond with reset response while opened ports will ignore the packet.</a:t>
            </a:r>
          </a:p>
          <a:p>
            <a:r>
              <a:rPr lang="en-US" sz="1600" b="1" dirty="0"/>
              <a:t>TCP XMAS SCAN: </a:t>
            </a:r>
            <a:r>
              <a:rPr lang="en-US" sz="1600" dirty="0"/>
              <a:t>(-</a:t>
            </a:r>
            <a:r>
              <a:rPr lang="en-US" sz="1600" dirty="0" err="1"/>
              <a:t>sX</a:t>
            </a:r>
            <a:r>
              <a:rPr lang="en-US" sz="1600" dirty="0"/>
              <a:t>) Used to identify listening ports on the server</a:t>
            </a:r>
          </a:p>
          <a:p>
            <a:r>
              <a:rPr lang="en-US" sz="1600" b="1" dirty="0"/>
              <a:t>TCP NULL SCAN: </a:t>
            </a:r>
            <a:r>
              <a:rPr lang="en-US" sz="1600" dirty="0"/>
              <a:t>(-</a:t>
            </a:r>
            <a:r>
              <a:rPr lang="en-US" sz="1600" dirty="0" err="1"/>
              <a:t>sN</a:t>
            </a:r>
            <a:r>
              <a:rPr lang="en-US" sz="1600" dirty="0"/>
              <a:t>) Extremely stealthier scan as it sets all header values to null</a:t>
            </a:r>
          </a:p>
          <a:p>
            <a:r>
              <a:rPr lang="en-US" sz="1600" b="1" dirty="0"/>
              <a:t>TCP SCRIPT &amp; VERSION SCAN: </a:t>
            </a:r>
            <a:r>
              <a:rPr lang="en-US" sz="1600" dirty="0"/>
              <a:t>(-</a:t>
            </a:r>
            <a:r>
              <a:rPr lang="en-US" sz="1600" dirty="0" err="1"/>
              <a:t>sCV</a:t>
            </a:r>
            <a:r>
              <a:rPr lang="en-US" sz="1600" dirty="0"/>
              <a:t>) Used to detect version and run </a:t>
            </a:r>
            <a:r>
              <a:rPr lang="en-US" sz="1600" dirty="0" err="1"/>
              <a:t>nmap</a:t>
            </a:r>
            <a:r>
              <a:rPr lang="en-US" sz="1600" dirty="0"/>
              <a:t> scripts for identifying vulnerabilities .</a:t>
            </a:r>
          </a:p>
          <a:p>
            <a:r>
              <a:rPr lang="en-US" sz="1600" b="1" dirty="0"/>
              <a:t>Aggressive Scan: </a:t>
            </a:r>
            <a:r>
              <a:rPr lang="en-US" sz="1600" dirty="0"/>
              <a:t>(-A) It provides comprehensive set of details about target system like service detection &amp; </a:t>
            </a:r>
            <a:r>
              <a:rPr lang="en-US" sz="1600" dirty="0" err="1"/>
              <a:t>os</a:t>
            </a:r>
            <a:r>
              <a:rPr lang="en-US" sz="1600" dirty="0"/>
              <a:t> detection, running </a:t>
            </a:r>
            <a:r>
              <a:rPr lang="en-US" sz="1600" dirty="0" err="1"/>
              <a:t>nmap</a:t>
            </a:r>
            <a:r>
              <a:rPr lang="en-US" sz="1600" dirty="0"/>
              <a:t> scripts.</a:t>
            </a:r>
            <a:br>
              <a:rPr lang="en-US" sz="1600" dirty="0"/>
            </a:br>
            <a:br>
              <a:rPr lang="en-US" sz="1600" dirty="0"/>
            </a:br>
            <a:endParaRPr lang="en-US" sz="1600" dirty="0"/>
          </a:p>
          <a:p>
            <a:r>
              <a:rPr lang="en-US" sz="1600" b="1" dirty="0"/>
              <a:t>For more checkout </a:t>
            </a:r>
            <a:r>
              <a:rPr lang="en-US" sz="1600" dirty="0">
                <a:hlinkClick r:id="rId2"/>
              </a:rPr>
              <a:t>https://nmap.org/book/</a:t>
            </a:r>
            <a:endParaRPr lang="en-US" sz="1600" dirty="0"/>
          </a:p>
        </p:txBody>
      </p:sp>
    </p:spTree>
    <p:extLst>
      <p:ext uri="{BB962C8B-B14F-4D97-AF65-F5344CB8AC3E}">
        <p14:creationId xmlns:p14="http://schemas.microsoft.com/office/powerpoint/2010/main" val="3392015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94C1-FB65-4366-A83A-341A46390349}"/>
              </a:ext>
            </a:extLst>
          </p:cNvPr>
          <p:cNvSpPr>
            <a:spLocks noGrp="1"/>
          </p:cNvSpPr>
          <p:nvPr>
            <p:ph type="title"/>
          </p:nvPr>
        </p:nvSpPr>
        <p:spPr/>
        <p:txBody>
          <a:bodyPr/>
          <a:lstStyle/>
          <a:p>
            <a:r>
              <a:rPr lang="en-US" dirty="0"/>
              <a:t>Pivoting &amp; Tunneling</a:t>
            </a:r>
          </a:p>
        </p:txBody>
      </p:sp>
      <p:sp>
        <p:nvSpPr>
          <p:cNvPr id="3" name="Content Placeholder 2">
            <a:extLst>
              <a:ext uri="{FF2B5EF4-FFF2-40B4-BE49-F238E27FC236}">
                <a16:creationId xmlns:a16="http://schemas.microsoft.com/office/drawing/2014/main" id="{51262635-0730-4040-88A7-C9E553A5898C}"/>
              </a:ext>
            </a:extLst>
          </p:cNvPr>
          <p:cNvSpPr>
            <a:spLocks noGrp="1"/>
          </p:cNvSpPr>
          <p:nvPr>
            <p:ph idx="1"/>
          </p:nvPr>
        </p:nvSpPr>
        <p:spPr>
          <a:xfrm>
            <a:off x="381000" y="1752600"/>
            <a:ext cx="8763000" cy="4411663"/>
          </a:xfrm>
        </p:spPr>
        <p:txBody>
          <a:bodyPr>
            <a:normAutofit/>
          </a:bodyPr>
          <a:lstStyle/>
          <a:p>
            <a:r>
              <a:rPr lang="en-US" sz="2000" dirty="0"/>
              <a:t>What is Pivoting &amp; Tunneling?</a:t>
            </a:r>
          </a:p>
          <a:p>
            <a:r>
              <a:rPr lang="en-US" sz="1400" b="1" dirty="0"/>
              <a:t>Pivoting</a:t>
            </a:r>
            <a:r>
              <a:rPr lang="en-US" sz="1400" dirty="0"/>
              <a:t> is using a compromised system to access other systems within a network. </a:t>
            </a:r>
          </a:p>
          <a:p>
            <a:r>
              <a:rPr lang="en-US" sz="1400" b="1" dirty="0"/>
              <a:t>Tunneling</a:t>
            </a:r>
            <a:r>
              <a:rPr lang="en-US" sz="1400" dirty="0"/>
              <a:t> involves encapsulating network traffic within another protocol to bypass firewalls.</a:t>
            </a:r>
          </a:p>
          <a:p>
            <a:r>
              <a:rPr lang="en-US" sz="1400" b="1" dirty="0"/>
              <a:t>Example:</a:t>
            </a:r>
            <a:r>
              <a:rPr lang="en-US" sz="1400" dirty="0"/>
              <a:t> After compromising a machine, an attacker uses it as a pivot to scan and exploit other internal systems.</a:t>
            </a:r>
          </a:p>
          <a:p>
            <a:endParaRPr lang="en-US" sz="1400" dirty="0"/>
          </a:p>
          <a:p>
            <a:endParaRPr lang="en-US" sz="1400" dirty="0"/>
          </a:p>
        </p:txBody>
      </p:sp>
      <p:pic>
        <p:nvPicPr>
          <p:cNvPr id="1026" name="Picture 2">
            <a:extLst>
              <a:ext uri="{FF2B5EF4-FFF2-40B4-BE49-F238E27FC236}">
                <a16:creationId xmlns:a16="http://schemas.microsoft.com/office/drawing/2014/main" id="{F5E232B3-F7DE-F123-D034-CD306234D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7" y="3581400"/>
            <a:ext cx="5991225"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074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65FE-5DC8-4FFF-A1C7-4CC710B3D073}"/>
              </a:ext>
            </a:extLst>
          </p:cNvPr>
          <p:cNvSpPr>
            <a:spLocks noGrp="1"/>
          </p:cNvSpPr>
          <p:nvPr>
            <p:ph type="title"/>
          </p:nvPr>
        </p:nvSpPr>
        <p:spPr/>
        <p:txBody>
          <a:bodyPr/>
          <a:lstStyle/>
          <a:p>
            <a:r>
              <a:rPr lang="en-US" dirty="0"/>
              <a:t>Ways to Pivot into network</a:t>
            </a:r>
          </a:p>
        </p:txBody>
      </p:sp>
      <p:sp>
        <p:nvSpPr>
          <p:cNvPr id="3" name="Content Placeholder 2">
            <a:extLst>
              <a:ext uri="{FF2B5EF4-FFF2-40B4-BE49-F238E27FC236}">
                <a16:creationId xmlns:a16="http://schemas.microsoft.com/office/drawing/2014/main" id="{C4DFD893-57C4-4127-A79D-AC2307C2C10F}"/>
              </a:ext>
            </a:extLst>
          </p:cNvPr>
          <p:cNvSpPr>
            <a:spLocks noGrp="1"/>
          </p:cNvSpPr>
          <p:nvPr>
            <p:ph idx="1"/>
          </p:nvPr>
        </p:nvSpPr>
        <p:spPr>
          <a:xfrm>
            <a:off x="522514" y="1828800"/>
            <a:ext cx="7391400" cy="4411663"/>
          </a:xfrm>
        </p:spPr>
        <p:txBody>
          <a:bodyPr>
            <a:normAutofit/>
          </a:bodyPr>
          <a:lstStyle/>
          <a:p>
            <a:r>
              <a:rPr lang="en-US" sz="1600" dirty="0"/>
              <a:t>1. SSH Dynamic port forwarding. </a:t>
            </a:r>
          </a:p>
          <a:p>
            <a:endParaRPr lang="en-US" sz="1600" dirty="0"/>
          </a:p>
          <a:p>
            <a:endParaRPr lang="en-US" sz="1600" dirty="0"/>
          </a:p>
          <a:p>
            <a:endParaRPr lang="en-US" sz="1600" dirty="0"/>
          </a:p>
          <a:p>
            <a:r>
              <a:rPr lang="en-US" sz="1600" dirty="0"/>
              <a:t>2. SSH Local Port Forwarding.</a:t>
            </a:r>
          </a:p>
          <a:p>
            <a:endParaRPr lang="en-US" sz="1600" dirty="0"/>
          </a:p>
          <a:p>
            <a:endParaRPr lang="en-US" sz="1600" dirty="0"/>
          </a:p>
          <a:p>
            <a:endParaRPr lang="en-US" sz="1600" dirty="0"/>
          </a:p>
          <a:p>
            <a:r>
              <a:rPr lang="en-US" sz="1600" dirty="0"/>
              <a:t>3. Chisel / FRP </a:t>
            </a:r>
          </a:p>
          <a:p>
            <a:r>
              <a:rPr lang="en-US" sz="1600" dirty="0"/>
              <a:t>4. </a:t>
            </a:r>
            <a:r>
              <a:rPr lang="en-US" sz="1600" dirty="0" err="1"/>
              <a:t>Ligolo</a:t>
            </a:r>
            <a:r>
              <a:rPr lang="en-US" sz="1600" dirty="0"/>
              <a:t>-NG</a:t>
            </a:r>
          </a:p>
          <a:p>
            <a:r>
              <a:rPr lang="en-US" sz="1600" dirty="0"/>
              <a:t>5. </a:t>
            </a:r>
            <a:r>
              <a:rPr lang="en-US" sz="1600" dirty="0" err="1"/>
              <a:t>Sshuttle</a:t>
            </a:r>
            <a:endParaRPr lang="en-US" sz="1600" dirty="0"/>
          </a:p>
          <a:p>
            <a:r>
              <a:rPr lang="en-US" sz="1600" dirty="0"/>
              <a:t>6. HTTP Agents – </a:t>
            </a:r>
            <a:r>
              <a:rPr lang="en-US" sz="1600" dirty="0" err="1"/>
              <a:t>pivotnacci</a:t>
            </a:r>
            <a:r>
              <a:rPr lang="en-US" sz="1600" dirty="0"/>
              <a:t>, Neo-</a:t>
            </a:r>
            <a:r>
              <a:rPr lang="en-US" sz="1600" dirty="0" err="1"/>
              <a:t>reGeorg</a:t>
            </a:r>
            <a:r>
              <a:rPr lang="en-US" sz="1600" dirty="0"/>
              <a:t>, ABPTTS</a:t>
            </a:r>
          </a:p>
        </p:txBody>
      </p:sp>
      <p:pic>
        <p:nvPicPr>
          <p:cNvPr id="5" name="Picture 4">
            <a:extLst>
              <a:ext uri="{FF2B5EF4-FFF2-40B4-BE49-F238E27FC236}">
                <a16:creationId xmlns:a16="http://schemas.microsoft.com/office/drawing/2014/main" id="{391A2F30-D806-3F03-0358-CCBBC1297364}"/>
              </a:ext>
            </a:extLst>
          </p:cNvPr>
          <p:cNvPicPr>
            <a:picLocks noChangeAspect="1"/>
          </p:cNvPicPr>
          <p:nvPr/>
        </p:nvPicPr>
        <p:blipFill>
          <a:blip r:embed="rId2"/>
          <a:stretch>
            <a:fillRect/>
          </a:stretch>
        </p:blipFill>
        <p:spPr>
          <a:xfrm>
            <a:off x="609600" y="2209800"/>
            <a:ext cx="4571429" cy="723810"/>
          </a:xfrm>
          <a:prstGeom prst="rect">
            <a:avLst/>
          </a:prstGeom>
        </p:spPr>
      </p:pic>
      <p:pic>
        <p:nvPicPr>
          <p:cNvPr id="7" name="Picture 6">
            <a:extLst>
              <a:ext uri="{FF2B5EF4-FFF2-40B4-BE49-F238E27FC236}">
                <a16:creationId xmlns:a16="http://schemas.microsoft.com/office/drawing/2014/main" id="{8D8E4AE8-4268-8008-8233-E9934599EA5C}"/>
              </a:ext>
            </a:extLst>
          </p:cNvPr>
          <p:cNvPicPr>
            <a:picLocks noChangeAspect="1"/>
          </p:cNvPicPr>
          <p:nvPr/>
        </p:nvPicPr>
        <p:blipFill>
          <a:blip r:embed="rId3"/>
          <a:stretch>
            <a:fillRect/>
          </a:stretch>
        </p:blipFill>
        <p:spPr>
          <a:xfrm>
            <a:off x="555171" y="3429000"/>
            <a:ext cx="4485714" cy="800000"/>
          </a:xfrm>
          <a:prstGeom prst="rect">
            <a:avLst/>
          </a:prstGeom>
        </p:spPr>
      </p:pic>
    </p:spTree>
    <p:extLst>
      <p:ext uri="{BB962C8B-B14F-4D97-AF65-F5344CB8AC3E}">
        <p14:creationId xmlns:p14="http://schemas.microsoft.com/office/powerpoint/2010/main" val="1532761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73141-D3A6-47A5-B703-C5FDED978572}"/>
              </a:ext>
            </a:extLst>
          </p:cNvPr>
          <p:cNvSpPr>
            <a:spLocks noGrp="1"/>
          </p:cNvSpPr>
          <p:nvPr>
            <p:ph type="title"/>
          </p:nvPr>
        </p:nvSpPr>
        <p:spPr/>
        <p:txBody>
          <a:bodyPr/>
          <a:lstStyle/>
          <a:p>
            <a:r>
              <a:rPr lang="en-US" dirty="0"/>
              <a:t>Pivoting using HTTP Agents</a:t>
            </a:r>
          </a:p>
        </p:txBody>
      </p:sp>
      <p:sp>
        <p:nvSpPr>
          <p:cNvPr id="3" name="Content Placeholder 2">
            <a:extLst>
              <a:ext uri="{FF2B5EF4-FFF2-40B4-BE49-F238E27FC236}">
                <a16:creationId xmlns:a16="http://schemas.microsoft.com/office/drawing/2014/main" id="{A9CB90E4-55C7-4C09-BA39-97F85D7DC935}"/>
              </a:ext>
            </a:extLst>
          </p:cNvPr>
          <p:cNvSpPr>
            <a:spLocks noGrp="1"/>
          </p:cNvSpPr>
          <p:nvPr>
            <p:ph idx="1"/>
          </p:nvPr>
        </p:nvSpPr>
        <p:spPr>
          <a:xfrm>
            <a:off x="152400" y="1600200"/>
            <a:ext cx="8763000" cy="5029200"/>
          </a:xfrm>
        </p:spPr>
        <p:txBody>
          <a:bodyPr>
            <a:normAutofit/>
          </a:bodyPr>
          <a:lstStyle/>
          <a:p>
            <a:r>
              <a:rPr lang="en-US" sz="1800" dirty="0"/>
              <a:t>Scenario:</a:t>
            </a:r>
          </a:p>
          <a:p>
            <a:r>
              <a:rPr lang="en-US" sz="1800" dirty="0"/>
              <a:t>I have gained RCE and uploaded a </a:t>
            </a:r>
            <a:r>
              <a:rPr lang="en-US" sz="1800" dirty="0" err="1"/>
              <a:t>webshell</a:t>
            </a:r>
            <a:r>
              <a:rPr lang="en-US" sz="1800" dirty="0"/>
              <a:t> on a server which is a reverse proxy allowing only HTTP traffic and there is no internet connection in the internal network.</a:t>
            </a:r>
            <a:br>
              <a:rPr lang="en-US" sz="1800" dirty="0"/>
            </a:br>
            <a:r>
              <a:rPr lang="en-US" sz="1800" dirty="0"/>
              <a:t>Which means only port 80 &amp; 443 is exposed to the internet that too via a nginx reverse proxy</a:t>
            </a:r>
            <a:br>
              <a:rPr lang="en-US" sz="1800" dirty="0"/>
            </a:br>
            <a:br>
              <a:rPr lang="en-US" sz="1800" dirty="0"/>
            </a:br>
            <a:br>
              <a:rPr lang="en-US" sz="1800" dirty="0"/>
            </a:br>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Limitations: I can’t use </a:t>
            </a:r>
            <a:r>
              <a:rPr lang="en-US" sz="1800" dirty="0" err="1"/>
              <a:t>Ligolo</a:t>
            </a:r>
            <a:r>
              <a:rPr lang="en-US" sz="1800" dirty="0"/>
              <a:t>-ng, chisel, </a:t>
            </a:r>
            <a:r>
              <a:rPr lang="en-US" sz="1800" dirty="0" err="1"/>
              <a:t>sshuttle</a:t>
            </a:r>
            <a:r>
              <a:rPr lang="en-US" sz="1800" dirty="0"/>
              <a:t> or any other tool that require to establish a reverse connection with a VPS over internet.</a:t>
            </a:r>
          </a:p>
          <a:p>
            <a:endParaRPr lang="en-US" sz="1800" dirty="0"/>
          </a:p>
        </p:txBody>
      </p:sp>
      <p:pic>
        <p:nvPicPr>
          <p:cNvPr id="5" name="Picture 4">
            <a:extLst>
              <a:ext uri="{FF2B5EF4-FFF2-40B4-BE49-F238E27FC236}">
                <a16:creationId xmlns:a16="http://schemas.microsoft.com/office/drawing/2014/main" id="{4B340C16-4786-65F9-EEFE-D69B2E28BAC2}"/>
              </a:ext>
            </a:extLst>
          </p:cNvPr>
          <p:cNvPicPr>
            <a:picLocks noChangeAspect="1"/>
          </p:cNvPicPr>
          <p:nvPr/>
        </p:nvPicPr>
        <p:blipFill>
          <a:blip r:embed="rId2"/>
          <a:stretch>
            <a:fillRect/>
          </a:stretch>
        </p:blipFill>
        <p:spPr>
          <a:xfrm>
            <a:off x="1600200" y="3124201"/>
            <a:ext cx="5638800" cy="2514600"/>
          </a:xfrm>
          <a:prstGeom prst="rect">
            <a:avLst/>
          </a:prstGeom>
        </p:spPr>
      </p:pic>
    </p:spTree>
    <p:extLst>
      <p:ext uri="{BB962C8B-B14F-4D97-AF65-F5344CB8AC3E}">
        <p14:creationId xmlns:p14="http://schemas.microsoft.com/office/powerpoint/2010/main" val="128781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7FB1-9D2A-402E-AEDC-342DC199561A}"/>
              </a:ext>
            </a:extLst>
          </p:cNvPr>
          <p:cNvSpPr>
            <a:spLocks noGrp="1"/>
          </p:cNvSpPr>
          <p:nvPr>
            <p:ph type="title"/>
          </p:nvPr>
        </p:nvSpPr>
        <p:spPr/>
        <p:txBody>
          <a:bodyPr/>
          <a:lstStyle/>
          <a:p>
            <a:r>
              <a:rPr lang="en-US" dirty="0"/>
              <a:t>Pivoting using HTTP Agents</a:t>
            </a:r>
          </a:p>
        </p:txBody>
      </p:sp>
      <p:pic>
        <p:nvPicPr>
          <p:cNvPr id="5" name="Content Placeholder 4" descr="A screenshot of a computer&#10;&#10;Description automatically generated">
            <a:extLst>
              <a:ext uri="{FF2B5EF4-FFF2-40B4-BE49-F238E27FC236}">
                <a16:creationId xmlns:a16="http://schemas.microsoft.com/office/drawing/2014/main" id="{E11A2725-B24E-EEA8-3812-842C87D8EE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1650102"/>
            <a:ext cx="8763000" cy="2658613"/>
          </a:xfrm>
        </p:spPr>
      </p:pic>
      <p:pic>
        <p:nvPicPr>
          <p:cNvPr id="7" name="Picture 6" descr="A screenshot of a computer&#10;&#10;Description automatically generated">
            <a:extLst>
              <a:ext uri="{FF2B5EF4-FFF2-40B4-BE49-F238E27FC236}">
                <a16:creationId xmlns:a16="http://schemas.microsoft.com/office/drawing/2014/main" id="{5B3E4A5B-9C79-2C82-7214-160986925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71" y="4495800"/>
            <a:ext cx="5390476" cy="914286"/>
          </a:xfrm>
          <a:prstGeom prst="rect">
            <a:avLst/>
          </a:prstGeom>
        </p:spPr>
      </p:pic>
      <p:sp>
        <p:nvSpPr>
          <p:cNvPr id="8" name="TextBox 7">
            <a:extLst>
              <a:ext uri="{FF2B5EF4-FFF2-40B4-BE49-F238E27FC236}">
                <a16:creationId xmlns:a16="http://schemas.microsoft.com/office/drawing/2014/main" id="{37E365E6-0A7B-8171-C84F-0CA1FE722A74}"/>
              </a:ext>
            </a:extLst>
          </p:cNvPr>
          <p:cNvSpPr txBox="1"/>
          <p:nvPr/>
        </p:nvSpPr>
        <p:spPr>
          <a:xfrm>
            <a:off x="5791200" y="4572000"/>
            <a:ext cx="2895600" cy="430887"/>
          </a:xfrm>
          <a:prstGeom prst="rect">
            <a:avLst/>
          </a:prstGeom>
          <a:noFill/>
        </p:spPr>
        <p:txBody>
          <a:bodyPr wrap="square" rtlCol="0">
            <a:spAutoFit/>
          </a:bodyPr>
          <a:lstStyle/>
          <a:p>
            <a:r>
              <a:rPr lang="en-US" sz="1100" dirty="0"/>
              <a:t>Remember </a:t>
            </a:r>
            <a:r>
              <a:rPr lang="en-US" sz="1100" dirty="0" err="1"/>
              <a:t>ssh</a:t>
            </a:r>
            <a:r>
              <a:rPr lang="en-US" sz="1100" dirty="0"/>
              <a:t> Dynamic Port Forwarding?</a:t>
            </a:r>
            <a:br>
              <a:rPr lang="en-US" sz="1100" dirty="0"/>
            </a:br>
            <a:r>
              <a:rPr lang="en-US" sz="1100" dirty="0"/>
              <a:t>PORT 1080 ?</a:t>
            </a:r>
          </a:p>
        </p:txBody>
      </p:sp>
      <p:pic>
        <p:nvPicPr>
          <p:cNvPr id="10" name="Picture 9">
            <a:extLst>
              <a:ext uri="{FF2B5EF4-FFF2-40B4-BE49-F238E27FC236}">
                <a16:creationId xmlns:a16="http://schemas.microsoft.com/office/drawing/2014/main" id="{9501D8EB-91AC-112F-6E45-3A87C50671CE}"/>
              </a:ext>
            </a:extLst>
          </p:cNvPr>
          <p:cNvPicPr>
            <a:picLocks noChangeAspect="1"/>
          </p:cNvPicPr>
          <p:nvPr/>
        </p:nvPicPr>
        <p:blipFill>
          <a:blip r:embed="rId4"/>
          <a:stretch>
            <a:fillRect/>
          </a:stretch>
        </p:blipFill>
        <p:spPr>
          <a:xfrm>
            <a:off x="258147" y="5536885"/>
            <a:ext cx="7457143" cy="1114286"/>
          </a:xfrm>
          <a:prstGeom prst="rect">
            <a:avLst/>
          </a:prstGeom>
        </p:spPr>
      </p:pic>
    </p:spTree>
    <p:extLst>
      <p:ext uri="{BB962C8B-B14F-4D97-AF65-F5344CB8AC3E}">
        <p14:creationId xmlns:p14="http://schemas.microsoft.com/office/powerpoint/2010/main" val="2120834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88BA-C100-45F7-B2E8-A0D57582C413}"/>
              </a:ext>
            </a:extLst>
          </p:cNvPr>
          <p:cNvSpPr>
            <a:spLocks noGrp="1"/>
          </p:cNvSpPr>
          <p:nvPr>
            <p:ph type="title"/>
          </p:nvPr>
        </p:nvSpPr>
        <p:spPr>
          <a:xfrm>
            <a:off x="37322" y="0"/>
            <a:ext cx="7696200" cy="1295400"/>
          </a:xfrm>
        </p:spPr>
        <p:txBody>
          <a:bodyPr/>
          <a:lstStyle/>
          <a:p>
            <a:r>
              <a:rPr lang="en-US" dirty="0"/>
              <a:t>Let’s Pivot :D !!!</a:t>
            </a:r>
          </a:p>
        </p:txBody>
      </p:sp>
      <p:pic>
        <p:nvPicPr>
          <p:cNvPr id="5" name="Picture 4" descr="A screenshot of a computer&#10;&#10;Description automatically generated">
            <a:extLst>
              <a:ext uri="{FF2B5EF4-FFF2-40B4-BE49-F238E27FC236}">
                <a16:creationId xmlns:a16="http://schemas.microsoft.com/office/drawing/2014/main" id="{EEC9A5E8-04FB-C35F-7A92-10B195BFA15E}"/>
              </a:ext>
            </a:extLst>
          </p:cNvPr>
          <p:cNvPicPr>
            <a:picLocks noChangeAspect="1"/>
          </p:cNvPicPr>
          <p:nvPr/>
        </p:nvPicPr>
        <p:blipFill rotWithShape="1">
          <a:blip r:embed="rId2">
            <a:extLst>
              <a:ext uri="{28A0092B-C50C-407E-A947-70E740481C1C}">
                <a14:useLocalDpi xmlns:a14="http://schemas.microsoft.com/office/drawing/2010/main" val="0"/>
              </a:ext>
            </a:extLst>
          </a:blip>
          <a:srcRect r="18054"/>
          <a:stretch/>
        </p:blipFill>
        <p:spPr>
          <a:xfrm>
            <a:off x="63758" y="1332722"/>
            <a:ext cx="6641841" cy="3925078"/>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13D6A1C3-709B-B56A-C451-A1A44CE81C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27" y="5324668"/>
            <a:ext cx="7638095" cy="1457131"/>
          </a:xfrm>
          <a:prstGeom prst="rect">
            <a:avLst/>
          </a:prstGeom>
        </p:spPr>
      </p:pic>
    </p:spTree>
    <p:extLst>
      <p:ext uri="{BB962C8B-B14F-4D97-AF65-F5344CB8AC3E}">
        <p14:creationId xmlns:p14="http://schemas.microsoft.com/office/powerpoint/2010/main" val="2525023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 up of a logo&#10;&#10;Description automatically generated">
            <a:extLst>
              <a:ext uri="{FF2B5EF4-FFF2-40B4-BE49-F238E27FC236}">
                <a16:creationId xmlns:a16="http://schemas.microsoft.com/office/drawing/2014/main" id="{21FB0899-0511-7EB9-E284-3C1798A4F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76200"/>
            <a:ext cx="3590476" cy="600000"/>
          </a:xfrm>
          <a:prstGeom prst="rect">
            <a:avLst/>
          </a:prstGeom>
        </p:spPr>
      </p:pic>
      <p:pic>
        <p:nvPicPr>
          <p:cNvPr id="11" name="Picture 10">
            <a:extLst>
              <a:ext uri="{FF2B5EF4-FFF2-40B4-BE49-F238E27FC236}">
                <a16:creationId xmlns:a16="http://schemas.microsoft.com/office/drawing/2014/main" id="{B9460D5C-9602-C082-821D-01FCC5737953}"/>
              </a:ext>
            </a:extLst>
          </p:cNvPr>
          <p:cNvPicPr>
            <a:picLocks noChangeAspect="1"/>
          </p:cNvPicPr>
          <p:nvPr/>
        </p:nvPicPr>
        <p:blipFill>
          <a:blip r:embed="rId3"/>
          <a:stretch>
            <a:fillRect/>
          </a:stretch>
        </p:blipFill>
        <p:spPr>
          <a:xfrm>
            <a:off x="152400" y="1015842"/>
            <a:ext cx="8534400" cy="1680591"/>
          </a:xfrm>
          <a:prstGeom prst="rect">
            <a:avLst/>
          </a:prstGeom>
        </p:spPr>
      </p:pic>
      <p:pic>
        <p:nvPicPr>
          <p:cNvPr id="2050" name="Picture 2">
            <a:extLst>
              <a:ext uri="{FF2B5EF4-FFF2-40B4-BE49-F238E27FC236}">
                <a16:creationId xmlns:a16="http://schemas.microsoft.com/office/drawing/2014/main" id="{5E0C3950-0524-BC56-64CD-5FE88E13AB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43" y="3036076"/>
            <a:ext cx="8980714" cy="3512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117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814B-3E46-4B4F-A449-2D17ABFA3371}"/>
              </a:ext>
            </a:extLst>
          </p:cNvPr>
          <p:cNvSpPr>
            <a:spLocks noGrp="1"/>
          </p:cNvSpPr>
          <p:nvPr>
            <p:ph type="title"/>
          </p:nvPr>
        </p:nvSpPr>
        <p:spPr/>
        <p:txBody>
          <a:bodyPr/>
          <a:lstStyle/>
          <a:p>
            <a:r>
              <a:rPr lang="en-US" dirty="0"/>
              <a:t>NAC(Network Access Controls) Implementation</a:t>
            </a:r>
          </a:p>
        </p:txBody>
      </p:sp>
      <p:sp>
        <p:nvSpPr>
          <p:cNvPr id="3" name="Content Placeholder 2">
            <a:extLst>
              <a:ext uri="{FF2B5EF4-FFF2-40B4-BE49-F238E27FC236}">
                <a16:creationId xmlns:a16="http://schemas.microsoft.com/office/drawing/2014/main" id="{D10EF433-027F-45C1-8F3B-BF207D9F4678}"/>
              </a:ext>
            </a:extLst>
          </p:cNvPr>
          <p:cNvSpPr>
            <a:spLocks noGrp="1"/>
          </p:cNvSpPr>
          <p:nvPr>
            <p:ph idx="1"/>
          </p:nvPr>
        </p:nvSpPr>
        <p:spPr>
          <a:xfrm>
            <a:off x="76200" y="1524000"/>
            <a:ext cx="8991600" cy="4411663"/>
          </a:xfrm>
        </p:spPr>
        <p:txBody>
          <a:bodyPr>
            <a:noAutofit/>
          </a:bodyPr>
          <a:lstStyle/>
          <a:p>
            <a:pPr algn="l"/>
            <a:r>
              <a:rPr lang="en-US" sz="1400" b="0" i="0" dirty="0">
                <a:solidFill>
                  <a:srgbClr val="333333"/>
                </a:solidFill>
                <a:effectLst/>
              </a:rPr>
              <a:t>NAC can be implemented in a variety of ways. The big </a:t>
            </a:r>
            <a:r>
              <a:rPr lang="en-US" sz="1400" b="1" i="0" u="none" strike="noStrike" dirty="0">
                <a:solidFill>
                  <a:srgbClr val="8B0000"/>
                </a:solidFill>
                <a:effectLst/>
                <a:hlinkClick r:id="rId2"/>
              </a:rPr>
              <a:t>manufacturers</a:t>
            </a:r>
            <a:r>
              <a:rPr lang="en-US" sz="1400" b="0" i="0" dirty="0">
                <a:solidFill>
                  <a:srgbClr val="333333"/>
                </a:solidFill>
                <a:effectLst/>
              </a:rPr>
              <a:t> offer packages that include hardware with the necessary features and software (agent and administration server). In some cases, cross-vendor implementations are available, although these typically have a more limited range of features and may also require more effort to configure.</a:t>
            </a:r>
          </a:p>
          <a:p>
            <a:pPr algn="l"/>
            <a:r>
              <a:rPr lang="en-US" sz="1400" b="0" i="0" dirty="0">
                <a:solidFill>
                  <a:srgbClr val="333333"/>
                </a:solidFill>
                <a:effectLst/>
              </a:rPr>
              <a:t>The following two methods are usually used for the authentication of devices:</a:t>
            </a:r>
          </a:p>
          <a:p>
            <a:pPr algn="l">
              <a:buFont typeface="Arial" panose="020B0604020202020204" pitchFamily="34" charset="0"/>
              <a:buChar char="•"/>
            </a:pPr>
            <a:r>
              <a:rPr lang="en-US" sz="1400" b="1" i="0" dirty="0">
                <a:solidFill>
                  <a:srgbClr val="333333"/>
                </a:solidFill>
                <a:effectLst/>
              </a:rPr>
              <a:t>MAC-based</a:t>
            </a:r>
            <a:r>
              <a:rPr lang="en-US" sz="1400" b="0" i="0" dirty="0">
                <a:solidFill>
                  <a:srgbClr val="333333"/>
                </a:solidFill>
                <a:effectLst/>
              </a:rPr>
              <a:t>: The device is identified at the switch by verifying the MAC address and then granting authorization with access control lists (ACL) for the network.</a:t>
            </a:r>
          </a:p>
          <a:p>
            <a:pPr algn="l">
              <a:buFont typeface="Arial" panose="020B0604020202020204" pitchFamily="34" charset="0"/>
              <a:buChar char="•"/>
            </a:pPr>
            <a:r>
              <a:rPr lang="en-US" sz="1400" b="1" i="0" dirty="0">
                <a:solidFill>
                  <a:srgbClr val="333333"/>
                </a:solidFill>
                <a:effectLst/>
              </a:rPr>
              <a:t>Certificate-based</a:t>
            </a:r>
            <a:r>
              <a:rPr lang="en-US" sz="1400" b="0" i="0" dirty="0">
                <a:solidFill>
                  <a:srgbClr val="333333"/>
                </a:solidFill>
                <a:effectLst/>
              </a:rPr>
              <a:t>: The device sends its locally installed </a:t>
            </a:r>
            <a:r>
              <a:rPr lang="en-US" sz="1400" b="1" i="0" u="none" strike="noStrike" dirty="0">
                <a:solidFill>
                  <a:srgbClr val="8B0000"/>
                </a:solidFill>
                <a:effectLst/>
                <a:hlinkClick r:id="rId3"/>
              </a:rPr>
              <a:t>802.1x</a:t>
            </a:r>
            <a:r>
              <a:rPr lang="en-US" sz="1400" b="0" i="0" dirty="0">
                <a:solidFill>
                  <a:srgbClr val="333333"/>
                </a:solidFill>
                <a:effectLst/>
              </a:rPr>
              <a:t> machine certificate to the switch, which then uses ACLs to verify the validity in order to allow access.</a:t>
            </a:r>
          </a:p>
          <a:p>
            <a:pPr algn="l"/>
            <a:r>
              <a:rPr lang="en-US" sz="1400" b="0" i="0" dirty="0">
                <a:solidFill>
                  <a:srgbClr val="333333"/>
                </a:solidFill>
                <a:effectLst/>
              </a:rPr>
              <a:t>Then there are two common methods used for compliance checks:</a:t>
            </a:r>
          </a:p>
          <a:p>
            <a:pPr algn="l">
              <a:buFont typeface="Arial" panose="020B0604020202020204" pitchFamily="34" charset="0"/>
              <a:buChar char="•"/>
            </a:pPr>
            <a:r>
              <a:rPr lang="en-US" sz="1400" b="1" i="0" dirty="0">
                <a:solidFill>
                  <a:srgbClr val="333333"/>
                </a:solidFill>
                <a:effectLst/>
              </a:rPr>
              <a:t>Agent</a:t>
            </a:r>
            <a:r>
              <a:rPr lang="en-US" sz="1400" b="0" i="0" dirty="0">
                <a:solidFill>
                  <a:srgbClr val="333333"/>
                </a:solidFill>
                <a:effectLst/>
              </a:rPr>
              <a:t>: A software agent is installed on the device. This must be configured with the defined policies. If the device meets the required criteria, it is allowed to access the network.</a:t>
            </a:r>
          </a:p>
          <a:p>
            <a:pPr algn="l">
              <a:buFont typeface="Arial" panose="020B0604020202020204" pitchFamily="34" charset="0"/>
              <a:buChar char="•"/>
            </a:pPr>
            <a:r>
              <a:rPr lang="en-US" sz="1400" b="1" i="0" dirty="0">
                <a:solidFill>
                  <a:srgbClr val="333333"/>
                </a:solidFill>
                <a:effectLst/>
              </a:rPr>
              <a:t>Scanner</a:t>
            </a:r>
            <a:r>
              <a:rPr lang="en-US" sz="1400" b="0" i="0" dirty="0">
                <a:solidFill>
                  <a:srgbClr val="333333"/>
                </a:solidFill>
                <a:effectLst/>
              </a:rPr>
              <a:t>: A vulnerability scanner that scans the device in a special zone is one alternative. The results are sent to the NAC server and checked against the relevant policies.</a:t>
            </a:r>
          </a:p>
          <a:p>
            <a:pPr algn="l"/>
            <a:endParaRPr lang="en-US" sz="1400" b="0" i="0" dirty="0">
              <a:solidFill>
                <a:srgbClr val="333333"/>
              </a:solidFill>
              <a:effectLst/>
            </a:endParaRPr>
          </a:p>
          <a:p>
            <a:pPr algn="l"/>
            <a:r>
              <a:rPr lang="en-US" sz="1400" b="0" i="0" dirty="0">
                <a:solidFill>
                  <a:srgbClr val="333333"/>
                </a:solidFill>
                <a:effectLst/>
              </a:rPr>
              <a:t>NAC is intended to address two issues:</a:t>
            </a:r>
          </a:p>
          <a:p>
            <a:pPr algn="l">
              <a:buFont typeface="Arial" panose="020B0604020202020204" pitchFamily="34" charset="0"/>
              <a:buChar char="•"/>
            </a:pPr>
            <a:r>
              <a:rPr lang="en-US" sz="1400" b="1" i="0" dirty="0">
                <a:solidFill>
                  <a:srgbClr val="333333"/>
                </a:solidFill>
                <a:effectLst/>
              </a:rPr>
              <a:t>Authentication</a:t>
            </a:r>
            <a:r>
              <a:rPr lang="en-US" sz="1400" b="0" i="0" dirty="0">
                <a:solidFill>
                  <a:srgbClr val="333333"/>
                </a:solidFill>
                <a:effectLst/>
              </a:rPr>
              <a:t>: Only authorized devices should be granted access to the network, such as an employee’s personal laptop. In contrast, a hacker’s harmful devices should be blocked from the network.</a:t>
            </a:r>
          </a:p>
          <a:p>
            <a:pPr algn="l">
              <a:buFont typeface="Arial" panose="020B0604020202020204" pitchFamily="34" charset="0"/>
              <a:buChar char="•"/>
            </a:pPr>
            <a:r>
              <a:rPr lang="en-US" sz="1400" b="1" i="0" dirty="0">
                <a:solidFill>
                  <a:srgbClr val="333333"/>
                </a:solidFill>
                <a:effectLst/>
              </a:rPr>
              <a:t>Compliance</a:t>
            </a:r>
            <a:r>
              <a:rPr lang="en-US" sz="1400" b="0" i="0" dirty="0">
                <a:solidFill>
                  <a:srgbClr val="333333"/>
                </a:solidFill>
                <a:effectLst/>
              </a:rPr>
              <a:t>: Authenticated devices are granted authorization when they meet additional criteria. These include passing tests for current antivirus patterns and OS patch level requirements.</a:t>
            </a:r>
          </a:p>
          <a:p>
            <a:br>
              <a:rPr lang="en-US" sz="1400" dirty="0"/>
            </a:br>
            <a:endParaRPr lang="en-US" sz="1400" dirty="0"/>
          </a:p>
        </p:txBody>
      </p:sp>
    </p:spTree>
    <p:extLst>
      <p:ext uri="{BB962C8B-B14F-4D97-AF65-F5344CB8AC3E}">
        <p14:creationId xmlns:p14="http://schemas.microsoft.com/office/powerpoint/2010/main" val="2544949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EE38-DE1D-4015-B070-A6B7E4B6135F}"/>
              </a:ext>
            </a:extLst>
          </p:cNvPr>
          <p:cNvSpPr>
            <a:spLocks noGrp="1"/>
          </p:cNvSpPr>
          <p:nvPr>
            <p:ph type="title"/>
          </p:nvPr>
        </p:nvSpPr>
        <p:spPr/>
        <p:txBody>
          <a:bodyPr/>
          <a:lstStyle/>
          <a:p>
            <a:r>
              <a:rPr lang="en-US" dirty="0"/>
              <a:t>NAC BYPASSES</a:t>
            </a:r>
          </a:p>
        </p:txBody>
      </p:sp>
      <p:pic>
        <p:nvPicPr>
          <p:cNvPr id="3074" name="Picture 2" descr="NAC bypass with tools">
            <a:extLst>
              <a:ext uri="{FF2B5EF4-FFF2-40B4-BE49-F238E27FC236}">
                <a16:creationId xmlns:a16="http://schemas.microsoft.com/office/drawing/2014/main" id="{A56E10E3-9B9F-0B1E-3015-1A1BFFB24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524000"/>
            <a:ext cx="5076825" cy="33147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E1AB664-5E6F-1556-EECC-E2D87A4BB4CC}"/>
              </a:ext>
            </a:extLst>
          </p:cNvPr>
          <p:cNvSpPr txBox="1"/>
          <p:nvPr/>
        </p:nvSpPr>
        <p:spPr>
          <a:xfrm>
            <a:off x="228600" y="4953000"/>
            <a:ext cx="5867400" cy="1034129"/>
          </a:xfrm>
          <a:prstGeom prst="rect">
            <a:avLst/>
          </a:prstGeom>
          <a:noFill/>
        </p:spPr>
        <p:txBody>
          <a:bodyPr wrap="square" rtlCol="0">
            <a:spAutoFit/>
          </a:bodyPr>
          <a:lstStyle/>
          <a:p>
            <a:pPr marL="285750" indent="-285750"/>
            <a:r>
              <a:rPr lang="en-US" sz="1800" dirty="0"/>
              <a:t>MAC Spoofing</a:t>
            </a:r>
          </a:p>
          <a:p>
            <a:pPr marL="285750" indent="-285750"/>
            <a:r>
              <a:rPr lang="en-US" sz="1800" dirty="0"/>
              <a:t>802.1x bypass</a:t>
            </a:r>
          </a:p>
          <a:p>
            <a:pPr marL="285750" indent="-285750"/>
            <a:r>
              <a:rPr lang="en-US" sz="1800" dirty="0"/>
              <a:t>Dropbox (Raspberry Pi 4+kali arm image)</a:t>
            </a:r>
          </a:p>
        </p:txBody>
      </p:sp>
    </p:spTree>
    <p:extLst>
      <p:ext uri="{BB962C8B-B14F-4D97-AF65-F5344CB8AC3E}">
        <p14:creationId xmlns:p14="http://schemas.microsoft.com/office/powerpoint/2010/main" val="1163146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79C1-4BF4-82A6-8FD0-39D700C2362A}"/>
              </a:ext>
            </a:extLst>
          </p:cNvPr>
          <p:cNvSpPr>
            <a:spLocks noGrp="1"/>
          </p:cNvSpPr>
          <p:nvPr>
            <p:ph type="title"/>
          </p:nvPr>
        </p:nvSpPr>
        <p:spPr/>
        <p:txBody>
          <a:bodyPr/>
          <a:lstStyle/>
          <a:p>
            <a:r>
              <a:rPr lang="en-US" dirty="0"/>
              <a:t>MAC(Media Access Control) Spoofing</a:t>
            </a:r>
          </a:p>
        </p:txBody>
      </p:sp>
      <p:sp>
        <p:nvSpPr>
          <p:cNvPr id="3" name="Content Placeholder 2">
            <a:extLst>
              <a:ext uri="{FF2B5EF4-FFF2-40B4-BE49-F238E27FC236}">
                <a16:creationId xmlns:a16="http://schemas.microsoft.com/office/drawing/2014/main" id="{9FD5D27F-249B-FA28-9BF1-AA177291FDAF}"/>
              </a:ext>
            </a:extLst>
          </p:cNvPr>
          <p:cNvSpPr>
            <a:spLocks noGrp="1"/>
          </p:cNvSpPr>
          <p:nvPr>
            <p:ph idx="1"/>
          </p:nvPr>
        </p:nvSpPr>
        <p:spPr>
          <a:xfrm>
            <a:off x="192833" y="1905000"/>
            <a:ext cx="8382000" cy="4411663"/>
          </a:xfrm>
        </p:spPr>
        <p:txBody>
          <a:bodyPr>
            <a:normAutofit fontScale="55000" lnSpcReduction="20000"/>
          </a:bodyPr>
          <a:lstStyle/>
          <a:p>
            <a:r>
              <a:rPr lang="en-US" dirty="0"/>
              <a:t>The first step in spoofing an authorized MAC address is to find one. This can be done by physically searching addresses on printers, labels, IP phones and similar equipment, or by using Wireshark to manually inspect broadcast and multicast packets that travel on the network and obtain some MAC addresses in the </a:t>
            </a:r>
            <a:r>
              <a:rPr lang="en-US" dirty="0" err="1"/>
              <a:t>traffic.c</a:t>
            </a:r>
            <a:r>
              <a:rPr lang="en-US" dirty="0"/>
              <a:t>.</a:t>
            </a:r>
          </a:p>
          <a:p>
            <a:endParaRPr lang="en-US" dirty="0"/>
          </a:p>
          <a:p>
            <a:r>
              <a:rPr lang="en-US" dirty="0" err="1"/>
              <a:t>Macchanger</a:t>
            </a:r>
            <a:r>
              <a:rPr lang="en-US" dirty="0"/>
              <a:t>(already installed in kali) can then be used to spoof the a MAC address. Once there, cables can be swapped to access the customer's network.</a:t>
            </a:r>
          </a:p>
          <a:p>
            <a:endParaRPr lang="en-US" dirty="0"/>
          </a:p>
          <a:p>
            <a:r>
              <a:rPr lang="en-US" dirty="0"/>
              <a:t># manually set the address</a:t>
            </a:r>
          </a:p>
          <a:p>
            <a:r>
              <a:rPr lang="en-US" b="1" dirty="0" err="1"/>
              <a:t>macchanger</a:t>
            </a:r>
            <a:r>
              <a:rPr lang="en-US" b="1" dirty="0"/>
              <a:t> -m "AA:BB:CC:DD:EE:FF" eth0</a:t>
            </a:r>
          </a:p>
          <a:p>
            <a:endParaRPr lang="en-US" dirty="0"/>
          </a:p>
          <a:p>
            <a:r>
              <a:rPr lang="en-US" dirty="0"/>
              <a:t># reset the address to the permanent physical MAC</a:t>
            </a:r>
          </a:p>
          <a:p>
            <a:r>
              <a:rPr lang="en-US" b="1" dirty="0" err="1"/>
              <a:t>macchanger</a:t>
            </a:r>
            <a:r>
              <a:rPr lang="en-US" b="1" dirty="0"/>
              <a:t> -p eth0</a:t>
            </a:r>
          </a:p>
          <a:p>
            <a:r>
              <a:rPr lang="en-US" dirty="0"/>
              <a:t>Some errors may be raised when the interface settings cannot be changed. This is usually due to the interface being used. Which can be solved by following:</a:t>
            </a:r>
          </a:p>
          <a:p>
            <a:r>
              <a:rPr lang="en-US" b="1" dirty="0" err="1"/>
              <a:t>ifdown</a:t>
            </a:r>
            <a:r>
              <a:rPr lang="en-US" b="1" dirty="0"/>
              <a:t> eth0</a:t>
            </a:r>
          </a:p>
          <a:p>
            <a:r>
              <a:rPr lang="en-US" b="1" dirty="0" err="1"/>
              <a:t>macchanger</a:t>
            </a:r>
            <a:r>
              <a:rPr lang="en-US" b="1" dirty="0"/>
              <a:t> -m "AA:BB:CC:DD:EE:FF" eth0</a:t>
            </a:r>
          </a:p>
          <a:p>
            <a:r>
              <a:rPr lang="en-US" b="1" dirty="0" err="1"/>
              <a:t>ifup</a:t>
            </a:r>
            <a:r>
              <a:rPr lang="en-US" b="1" dirty="0"/>
              <a:t> eth0</a:t>
            </a:r>
          </a:p>
          <a:p>
            <a:endParaRPr lang="en-US" dirty="0"/>
          </a:p>
        </p:txBody>
      </p:sp>
    </p:spTree>
    <p:extLst>
      <p:ext uri="{BB962C8B-B14F-4D97-AF65-F5344CB8AC3E}">
        <p14:creationId xmlns:p14="http://schemas.microsoft.com/office/powerpoint/2010/main" val="197282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DF66-22A3-7925-2C82-502EBC2D921F}"/>
              </a:ext>
            </a:extLst>
          </p:cNvPr>
          <p:cNvSpPr>
            <a:spLocks noGrp="1"/>
          </p:cNvSpPr>
          <p:nvPr>
            <p:ph type="title"/>
          </p:nvPr>
        </p:nvSpPr>
        <p:spPr/>
        <p:txBody>
          <a:bodyPr/>
          <a:lstStyle/>
          <a:p>
            <a:r>
              <a:rPr lang="en-US" dirty="0"/>
              <a:t>MSCHAP-V2 Authentication</a:t>
            </a:r>
          </a:p>
        </p:txBody>
      </p:sp>
      <p:sp>
        <p:nvSpPr>
          <p:cNvPr id="3" name="Content Placeholder 2">
            <a:extLst>
              <a:ext uri="{FF2B5EF4-FFF2-40B4-BE49-F238E27FC236}">
                <a16:creationId xmlns:a16="http://schemas.microsoft.com/office/drawing/2014/main" id="{697554E8-31DE-67E3-7F38-3AC2BF33C13C}"/>
              </a:ext>
            </a:extLst>
          </p:cNvPr>
          <p:cNvSpPr>
            <a:spLocks noGrp="1"/>
          </p:cNvSpPr>
          <p:nvPr>
            <p:ph idx="1"/>
          </p:nvPr>
        </p:nvSpPr>
        <p:spPr>
          <a:xfrm>
            <a:off x="228600" y="1828800"/>
            <a:ext cx="8750559" cy="4572000"/>
          </a:xfrm>
        </p:spPr>
        <p:txBody>
          <a:bodyPr>
            <a:normAutofit/>
          </a:bodyPr>
          <a:lstStyle/>
          <a:p>
            <a:r>
              <a:rPr lang="en-US" sz="1400" b="1" dirty="0"/>
              <a:t>Scenario</a:t>
            </a:r>
            <a:r>
              <a:rPr lang="en-US" sz="1400" dirty="0"/>
              <a:t>: A client has asked you to perform physical breach / assumed breached red teaming or internal penetration testing. You are provided with a Domain User ID ( On-Prem ) and a laptop/desktop(maybe/maybe not) which is connected to the Enterprise </a:t>
            </a:r>
            <a:r>
              <a:rPr lang="en-US" sz="1400" dirty="0" err="1"/>
              <a:t>WiFi</a:t>
            </a:r>
            <a:r>
              <a:rPr lang="en-US" sz="1400" dirty="0"/>
              <a:t> for accessing internal network and authenticate to DC(Domain Controller). You’re supposed to proceed further onwards.</a:t>
            </a:r>
          </a:p>
          <a:p>
            <a:r>
              <a:rPr lang="en-US" sz="1400" b="1" dirty="0"/>
              <a:t>Limitations: </a:t>
            </a:r>
            <a:r>
              <a:rPr lang="en-US" sz="1400" dirty="0"/>
              <a:t>There’s a possibility that an EDR agent is installed which is blocking all your tools and executable binaries. </a:t>
            </a:r>
          </a:p>
          <a:p>
            <a:r>
              <a:rPr lang="en-US" sz="1400" dirty="0"/>
              <a:t>You are not so familiar with EDR bypasses. </a:t>
            </a:r>
          </a:p>
          <a:p>
            <a:r>
              <a:rPr lang="en-US" sz="1400" dirty="0"/>
              <a:t>Domain user provided does not have local administrative rights on the given Desktop/Laptop.</a:t>
            </a:r>
          </a:p>
          <a:p>
            <a:br>
              <a:rPr lang="en-US" sz="1400" dirty="0"/>
            </a:br>
            <a:r>
              <a:rPr lang="en-US" sz="1400" dirty="0"/>
              <a:t>Read More about MSCHAP-V2 authentication here: </a:t>
            </a:r>
            <a:r>
              <a:rPr lang="en-US" sz="1400" dirty="0">
                <a:hlinkClick r:id="rId2"/>
              </a:rPr>
              <a:t>https://www.portnox.com/cybersecurity-101/mschapv2/</a:t>
            </a:r>
            <a:endParaRPr lang="en-US" sz="1400" dirty="0"/>
          </a:p>
          <a:p>
            <a:endParaRPr lang="en-US" sz="1400" dirty="0"/>
          </a:p>
          <a:p>
            <a:r>
              <a:rPr lang="en-US" sz="1400" dirty="0"/>
              <a:t>What can we do?</a:t>
            </a:r>
            <a:br>
              <a:rPr lang="en-US" sz="1400" dirty="0"/>
            </a:br>
            <a:endParaRPr lang="en-US" sz="1400" dirty="0"/>
          </a:p>
          <a:p>
            <a:pPr marL="388620" indent="-342900">
              <a:buAutoNum type="arabicPeriod"/>
            </a:pPr>
            <a:r>
              <a:rPr lang="en-US" sz="1400" dirty="0"/>
              <a:t>Pull out the ethernet cable attached to the given desktop and plug into your own personal/company provided laptop and do the enumeration, recon on network by running </a:t>
            </a:r>
            <a:r>
              <a:rPr lang="en-US" sz="1400" dirty="0" err="1"/>
              <a:t>nmap</a:t>
            </a:r>
            <a:r>
              <a:rPr lang="en-US" sz="1400" dirty="0"/>
              <a:t> and other tools after spoofing the MAC of the Client’s machine.</a:t>
            </a:r>
          </a:p>
          <a:p>
            <a:pPr marL="388620" indent="-342900">
              <a:buAutoNum type="arabicPeriod"/>
            </a:pPr>
            <a:r>
              <a:rPr lang="en-US" sz="1400" dirty="0"/>
              <a:t> Use the Domain User credentials to authenticate over </a:t>
            </a:r>
            <a:r>
              <a:rPr lang="en-US" sz="1400" dirty="0" err="1"/>
              <a:t>WiFi</a:t>
            </a:r>
            <a:r>
              <a:rPr lang="en-US" sz="1400" dirty="0"/>
              <a:t> through your own machine in order to access the internal network.</a:t>
            </a:r>
          </a:p>
        </p:txBody>
      </p:sp>
    </p:spTree>
    <p:extLst>
      <p:ext uri="{BB962C8B-B14F-4D97-AF65-F5344CB8AC3E}">
        <p14:creationId xmlns:p14="http://schemas.microsoft.com/office/powerpoint/2010/main" val="1340145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A39-0C94-3F2E-0CD7-CB5528B2BCDD}"/>
              </a:ext>
            </a:extLst>
          </p:cNvPr>
          <p:cNvSpPr>
            <a:spLocks noGrp="1"/>
          </p:cNvSpPr>
          <p:nvPr>
            <p:ph type="title"/>
          </p:nvPr>
        </p:nvSpPr>
        <p:spPr/>
        <p:txBody>
          <a:bodyPr/>
          <a:lstStyle/>
          <a:p>
            <a:r>
              <a:rPr lang="en-US" sz="3200" dirty="0" err="1"/>
              <a:t>Eg.</a:t>
            </a:r>
            <a:r>
              <a:rPr lang="en-US" sz="3200" dirty="0"/>
              <a:t> Physical Breach To Domain Admin</a:t>
            </a:r>
          </a:p>
        </p:txBody>
      </p:sp>
      <p:sp>
        <p:nvSpPr>
          <p:cNvPr id="3" name="Content Placeholder 2">
            <a:extLst>
              <a:ext uri="{FF2B5EF4-FFF2-40B4-BE49-F238E27FC236}">
                <a16:creationId xmlns:a16="http://schemas.microsoft.com/office/drawing/2014/main" id="{9E8F4E90-5901-695B-CF49-FF04386C553D}"/>
              </a:ext>
            </a:extLst>
          </p:cNvPr>
          <p:cNvSpPr>
            <a:spLocks noGrp="1"/>
          </p:cNvSpPr>
          <p:nvPr>
            <p:ph idx="1"/>
          </p:nvPr>
        </p:nvSpPr>
        <p:spPr>
          <a:xfrm>
            <a:off x="76200" y="1752600"/>
            <a:ext cx="8991600" cy="5029200"/>
          </a:xfrm>
        </p:spPr>
        <p:txBody>
          <a:bodyPr>
            <a:normAutofit/>
          </a:bodyPr>
          <a:lstStyle/>
          <a:p>
            <a:r>
              <a:rPr lang="en-US" sz="1600" dirty="0"/>
              <a:t>Ref: </a:t>
            </a:r>
            <a:r>
              <a:rPr lang="en-US" sz="1600" dirty="0">
                <a:hlinkClick r:id="rId2"/>
              </a:rPr>
              <a:t>https://medium.com/@manan07/uncommon-physical-breach-to-domain-admin-compromise-b8bcf5d21082</a:t>
            </a:r>
            <a:endParaRPr lang="en-US" sz="1600" dirty="0"/>
          </a:p>
          <a:p>
            <a:endParaRPr lang="en-US" sz="1600" dirty="0"/>
          </a:p>
          <a:p>
            <a:endParaRPr lang="en-US" sz="1600" dirty="0"/>
          </a:p>
        </p:txBody>
      </p:sp>
      <p:pic>
        <p:nvPicPr>
          <p:cNvPr id="5" name="Picture 4">
            <a:extLst>
              <a:ext uri="{FF2B5EF4-FFF2-40B4-BE49-F238E27FC236}">
                <a16:creationId xmlns:a16="http://schemas.microsoft.com/office/drawing/2014/main" id="{7C22621D-751D-F50B-72BF-09E4BB0E1BDD}"/>
              </a:ext>
            </a:extLst>
          </p:cNvPr>
          <p:cNvPicPr>
            <a:picLocks noChangeAspect="1"/>
          </p:cNvPicPr>
          <p:nvPr/>
        </p:nvPicPr>
        <p:blipFill>
          <a:blip r:embed="rId3"/>
          <a:stretch>
            <a:fillRect/>
          </a:stretch>
        </p:blipFill>
        <p:spPr>
          <a:xfrm>
            <a:off x="228600" y="2302670"/>
            <a:ext cx="6629400" cy="1507330"/>
          </a:xfrm>
          <a:prstGeom prst="rect">
            <a:avLst/>
          </a:prstGeom>
        </p:spPr>
      </p:pic>
      <p:pic>
        <p:nvPicPr>
          <p:cNvPr id="7" name="Picture 6">
            <a:extLst>
              <a:ext uri="{FF2B5EF4-FFF2-40B4-BE49-F238E27FC236}">
                <a16:creationId xmlns:a16="http://schemas.microsoft.com/office/drawing/2014/main" id="{D568E38F-2062-CE4B-E536-D67E7A1D4A8C}"/>
              </a:ext>
            </a:extLst>
          </p:cNvPr>
          <p:cNvPicPr>
            <a:picLocks noChangeAspect="1"/>
          </p:cNvPicPr>
          <p:nvPr/>
        </p:nvPicPr>
        <p:blipFill>
          <a:blip r:embed="rId4"/>
          <a:stretch>
            <a:fillRect/>
          </a:stretch>
        </p:blipFill>
        <p:spPr>
          <a:xfrm>
            <a:off x="242596" y="4018383"/>
            <a:ext cx="8104762" cy="2763417"/>
          </a:xfrm>
          <a:prstGeom prst="rect">
            <a:avLst/>
          </a:prstGeom>
        </p:spPr>
      </p:pic>
    </p:spTree>
    <p:extLst>
      <p:ext uri="{BB962C8B-B14F-4D97-AF65-F5344CB8AC3E}">
        <p14:creationId xmlns:p14="http://schemas.microsoft.com/office/powerpoint/2010/main" val="3369347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C71C9A-6967-2904-29D6-8D729418ABA7}"/>
              </a:ext>
            </a:extLst>
          </p:cNvPr>
          <p:cNvPicPr>
            <a:picLocks noChangeAspect="1"/>
          </p:cNvPicPr>
          <p:nvPr/>
        </p:nvPicPr>
        <p:blipFill>
          <a:blip r:embed="rId2"/>
          <a:stretch>
            <a:fillRect/>
          </a:stretch>
        </p:blipFill>
        <p:spPr>
          <a:xfrm>
            <a:off x="0" y="914400"/>
            <a:ext cx="9144000" cy="5410200"/>
          </a:xfrm>
          <a:prstGeom prst="rect">
            <a:avLst/>
          </a:prstGeom>
        </p:spPr>
      </p:pic>
    </p:spTree>
    <p:extLst>
      <p:ext uri="{BB962C8B-B14F-4D97-AF65-F5344CB8AC3E}">
        <p14:creationId xmlns:p14="http://schemas.microsoft.com/office/powerpoint/2010/main" val="424620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3F1B-AE28-8A14-33C5-6A6AE37516E7}"/>
              </a:ext>
            </a:extLst>
          </p:cNvPr>
          <p:cNvSpPr>
            <a:spLocks noGrp="1"/>
          </p:cNvSpPr>
          <p:nvPr>
            <p:ph type="title"/>
          </p:nvPr>
        </p:nvSpPr>
        <p:spPr/>
        <p:txBody>
          <a:bodyPr/>
          <a:lstStyle/>
          <a:p>
            <a:r>
              <a:rPr lang="en-US" dirty="0"/>
              <a:t>Privilege Escalation</a:t>
            </a:r>
          </a:p>
        </p:txBody>
      </p:sp>
      <p:sp>
        <p:nvSpPr>
          <p:cNvPr id="3" name="Content Placeholder 2">
            <a:extLst>
              <a:ext uri="{FF2B5EF4-FFF2-40B4-BE49-F238E27FC236}">
                <a16:creationId xmlns:a16="http://schemas.microsoft.com/office/drawing/2014/main" id="{9642922A-418E-A3C8-AC6B-37C4548FC41A}"/>
              </a:ext>
            </a:extLst>
          </p:cNvPr>
          <p:cNvSpPr>
            <a:spLocks noGrp="1"/>
          </p:cNvSpPr>
          <p:nvPr>
            <p:ph idx="1"/>
          </p:nvPr>
        </p:nvSpPr>
        <p:spPr>
          <a:xfrm>
            <a:off x="209938" y="1752600"/>
            <a:ext cx="8781661" cy="4724400"/>
          </a:xfrm>
        </p:spPr>
        <p:txBody>
          <a:bodyPr>
            <a:normAutofit/>
          </a:bodyPr>
          <a:lstStyle/>
          <a:p>
            <a:r>
              <a:rPr lang="en-US" sz="1800" b="0" i="0" dirty="0">
                <a:solidFill>
                  <a:srgbClr val="000000"/>
                </a:solidFill>
                <a:effectLst/>
              </a:rPr>
              <a:t>A </a:t>
            </a:r>
            <a:r>
              <a:rPr lang="en-US" sz="1800" b="1" i="0" dirty="0">
                <a:solidFill>
                  <a:srgbClr val="000000"/>
                </a:solidFill>
                <a:effectLst/>
              </a:rPr>
              <a:t>privilege escalation attack</a:t>
            </a:r>
            <a:r>
              <a:rPr lang="en-US" sz="1800" b="0" i="0" dirty="0">
                <a:solidFill>
                  <a:srgbClr val="000000"/>
                </a:solidFill>
                <a:effectLst/>
              </a:rPr>
              <a:t> is a cyberattack designed to gain unauthorized privileged access into a system. – Definition by CrowdStrike</a:t>
            </a:r>
          </a:p>
          <a:p>
            <a:r>
              <a:rPr lang="en-US" sz="1800" dirty="0">
                <a:solidFill>
                  <a:srgbClr val="000000"/>
                </a:solidFill>
              </a:rPr>
              <a:t>The art of elevating the rights from a low level user to high privilege user by exploiting a vulnerability or abusing a misconfiguration . – My own Definition </a:t>
            </a:r>
          </a:p>
          <a:p>
            <a:endParaRPr lang="en-US" sz="1800" dirty="0">
              <a:solidFill>
                <a:srgbClr val="000000"/>
              </a:solidFill>
            </a:endParaRPr>
          </a:p>
          <a:p>
            <a:endParaRPr lang="en-US" sz="1800" dirty="0"/>
          </a:p>
        </p:txBody>
      </p:sp>
      <p:graphicFrame>
        <p:nvGraphicFramePr>
          <p:cNvPr id="5" name="Table 5">
            <a:extLst>
              <a:ext uri="{FF2B5EF4-FFF2-40B4-BE49-F238E27FC236}">
                <a16:creationId xmlns:a16="http://schemas.microsoft.com/office/drawing/2014/main" id="{ED3F6412-7767-BDC2-81BD-56C40866A817}"/>
              </a:ext>
            </a:extLst>
          </p:cNvPr>
          <p:cNvGraphicFramePr>
            <a:graphicFrameLocks noGrp="1"/>
          </p:cNvGraphicFramePr>
          <p:nvPr>
            <p:extLst>
              <p:ext uri="{D42A27DB-BD31-4B8C-83A1-F6EECF244321}">
                <p14:modId xmlns:p14="http://schemas.microsoft.com/office/powerpoint/2010/main" val="443789420"/>
              </p:ext>
            </p:extLst>
          </p:nvPr>
        </p:nvGraphicFramePr>
        <p:xfrm>
          <a:off x="1028700" y="3120053"/>
          <a:ext cx="6096000" cy="3144520"/>
        </p:xfrm>
        <a:graphic>
          <a:graphicData uri="http://schemas.openxmlformats.org/drawingml/2006/table">
            <a:tbl>
              <a:tblPr firstRow="1" bandRow="1">
                <a:tableStyleId>{7E9639D4-E3E2-4D34-9284-5A2195B3D0D7}</a:tableStyleId>
              </a:tblPr>
              <a:tblGrid>
                <a:gridCol w="3048000">
                  <a:extLst>
                    <a:ext uri="{9D8B030D-6E8A-4147-A177-3AD203B41FA5}">
                      <a16:colId xmlns:a16="http://schemas.microsoft.com/office/drawing/2014/main" val="1065759260"/>
                    </a:ext>
                  </a:extLst>
                </a:gridCol>
                <a:gridCol w="3048000">
                  <a:extLst>
                    <a:ext uri="{9D8B030D-6E8A-4147-A177-3AD203B41FA5}">
                      <a16:colId xmlns:a16="http://schemas.microsoft.com/office/drawing/2014/main" val="3474874219"/>
                    </a:ext>
                  </a:extLst>
                </a:gridCol>
              </a:tblGrid>
              <a:tr h="370840">
                <a:tc>
                  <a:txBody>
                    <a:bodyPr/>
                    <a:lstStyle/>
                    <a:p>
                      <a:r>
                        <a:rPr lang="en-US" sz="1600" dirty="0"/>
                        <a:t>Windows</a:t>
                      </a:r>
                    </a:p>
                  </a:txBody>
                  <a:tcPr/>
                </a:tc>
                <a:tc>
                  <a:txBody>
                    <a:bodyPr/>
                    <a:lstStyle/>
                    <a:p>
                      <a:r>
                        <a:rPr lang="en-US" sz="1600" dirty="0"/>
                        <a:t>Linux</a:t>
                      </a:r>
                    </a:p>
                  </a:txBody>
                  <a:tcPr/>
                </a:tc>
                <a:extLst>
                  <a:ext uri="{0D108BD9-81ED-4DB2-BD59-A6C34878D82A}">
                    <a16:rowId xmlns:a16="http://schemas.microsoft.com/office/drawing/2014/main" val="3794504570"/>
                  </a:ext>
                </a:extLst>
              </a:tr>
              <a:tr h="370840">
                <a:tc>
                  <a:txBody>
                    <a:bodyPr/>
                    <a:lstStyle/>
                    <a:p>
                      <a:pPr marL="331470" indent="-285750">
                        <a:buFont typeface="Arial" panose="020B0604020202020204" pitchFamily="34" charset="0"/>
                        <a:buChar char="•"/>
                      </a:pPr>
                      <a:r>
                        <a:rPr lang="en-US" sz="1600" b="0" i="0" dirty="0">
                          <a:solidFill>
                            <a:srgbClr val="000000"/>
                          </a:solidFill>
                          <a:effectLst/>
                        </a:rPr>
                        <a:t>Abusing MSI files.</a:t>
                      </a:r>
                    </a:p>
                    <a:p>
                      <a:pPr marL="331470" indent="-285750">
                        <a:buFont typeface="Arial" panose="020B0604020202020204" pitchFamily="34" charset="0"/>
                        <a:buChar char="•"/>
                      </a:pPr>
                      <a:r>
                        <a:rPr lang="en-US" sz="1600" b="0" i="0" dirty="0">
                          <a:solidFill>
                            <a:srgbClr val="000000"/>
                          </a:solidFill>
                          <a:effectLst/>
                        </a:rPr>
                        <a:t>Abusing misconfigured services</a:t>
                      </a:r>
                    </a:p>
                    <a:p>
                      <a:pPr marL="331470" indent="-285750">
                        <a:buFont typeface="Arial" panose="020B0604020202020204" pitchFamily="34" charset="0"/>
                        <a:buChar char="•"/>
                      </a:pPr>
                      <a:r>
                        <a:rPr lang="en-US" sz="1600" dirty="0">
                          <a:solidFill>
                            <a:srgbClr val="000000"/>
                          </a:solidFill>
                        </a:rPr>
                        <a:t>Abusing scheduled tasks.</a:t>
                      </a:r>
                    </a:p>
                    <a:p>
                      <a:pPr marL="331470" indent="-285750">
                        <a:buFont typeface="Arial" panose="020B0604020202020204" pitchFamily="34" charset="0"/>
                        <a:buChar char="•"/>
                      </a:pPr>
                      <a:r>
                        <a:rPr lang="en-US" sz="1600" dirty="0">
                          <a:solidFill>
                            <a:srgbClr val="000000"/>
                          </a:solidFill>
                        </a:rPr>
                        <a:t>Kernel Exploits(0days) </a:t>
                      </a:r>
                    </a:p>
                    <a:p>
                      <a:pPr marL="331470" indent="-285750">
                        <a:buFont typeface="Arial" panose="020B0604020202020204" pitchFamily="34" charset="0"/>
                        <a:buChar char="•"/>
                      </a:pPr>
                      <a:r>
                        <a:rPr lang="en-US" sz="1600" b="0" i="0" dirty="0">
                          <a:solidFill>
                            <a:srgbClr val="000000"/>
                          </a:solidFill>
                          <a:effectLst/>
                        </a:rPr>
                        <a:t>Relay Attacks</a:t>
                      </a:r>
                    </a:p>
                    <a:p>
                      <a:pPr marL="331470" indent="-285750">
                        <a:buFont typeface="Arial" panose="020B0604020202020204" pitchFamily="34" charset="0"/>
                        <a:buChar char="•"/>
                      </a:pPr>
                      <a:r>
                        <a:rPr lang="en-US" sz="1600" dirty="0">
                          <a:solidFill>
                            <a:srgbClr val="000000"/>
                          </a:solidFill>
                        </a:rPr>
                        <a:t>DLL Hijacking</a:t>
                      </a:r>
                    </a:p>
                    <a:p>
                      <a:pPr marL="331470" indent="-285750">
                        <a:buFont typeface="Arial" panose="020B0604020202020204" pitchFamily="34" charset="0"/>
                        <a:buChar char="•"/>
                      </a:pPr>
                      <a:r>
                        <a:rPr lang="en-US" sz="1600" b="0" i="0" dirty="0">
                          <a:solidFill>
                            <a:srgbClr val="000000"/>
                          </a:solidFill>
                          <a:effectLst/>
                        </a:rPr>
                        <a:t>Offline Sam Dumping</a:t>
                      </a:r>
                      <a:endParaRPr lang="en-US" sz="1600" dirty="0">
                        <a:solidFill>
                          <a:srgbClr val="000000"/>
                        </a:solidFill>
                      </a:endParaRPr>
                    </a:p>
                    <a:p>
                      <a:pPr marL="331470" indent="-285750">
                        <a:buFont typeface="Arial" panose="020B0604020202020204" pitchFamily="34" charset="0"/>
                        <a:buChar char="•"/>
                      </a:pPr>
                      <a:r>
                        <a:rPr lang="en-US" sz="1600" b="0" i="0" dirty="0">
                          <a:solidFill>
                            <a:srgbClr val="000000"/>
                          </a:solidFill>
                          <a:effectLst/>
                        </a:rPr>
                        <a:t>Delegation Attacks</a:t>
                      </a:r>
                    </a:p>
                    <a:p>
                      <a:pPr marL="331470" indent="-285750">
                        <a:buFont typeface="Arial" panose="020B0604020202020204" pitchFamily="34" charset="0"/>
                        <a:buChar char="•"/>
                      </a:pPr>
                      <a:r>
                        <a:rPr lang="en-US" sz="1600" b="0" i="0" dirty="0">
                          <a:solidFill>
                            <a:srgbClr val="000000"/>
                          </a:solidFill>
                          <a:effectLst/>
                        </a:rPr>
                        <a:t>Password Spray Attack</a:t>
                      </a:r>
                      <a:endParaRPr lang="en-US" sz="2000" b="0" i="0" dirty="0">
                        <a:solidFill>
                          <a:srgbClr val="000000"/>
                        </a:solidFill>
                        <a:effectLst/>
                      </a:endParaRPr>
                    </a:p>
                    <a:p>
                      <a:endParaRPr lang="en-US" sz="1600" dirty="0"/>
                    </a:p>
                  </a:txBody>
                  <a:tcPr/>
                </a:tc>
                <a:tc>
                  <a:txBody>
                    <a:bodyPr/>
                    <a:lstStyle/>
                    <a:p>
                      <a:pPr marL="285750" indent="-285750">
                        <a:buFont typeface="Arial" panose="020B0604020202020204" pitchFamily="34" charset="0"/>
                        <a:buChar char="•"/>
                      </a:pPr>
                      <a:r>
                        <a:rPr lang="en-US" sz="1600" dirty="0"/>
                        <a:t>Kernel Exploits like</a:t>
                      </a:r>
                      <a:br>
                        <a:rPr lang="en-US" sz="1600" dirty="0"/>
                      </a:br>
                      <a:r>
                        <a:rPr lang="en-US" sz="1600" dirty="0" err="1"/>
                        <a:t>Dirtycow</a:t>
                      </a:r>
                      <a:r>
                        <a:rPr lang="en-US" sz="1600" dirty="0"/>
                        <a:t>, </a:t>
                      </a:r>
                      <a:r>
                        <a:rPr lang="en-US" sz="1600" dirty="0" err="1"/>
                        <a:t>DirtyPipe</a:t>
                      </a:r>
                      <a:r>
                        <a:rPr lang="en-US" sz="1600" dirty="0"/>
                        <a:t>, </a:t>
                      </a:r>
                      <a:r>
                        <a:rPr lang="en-US" sz="1600" dirty="0" err="1"/>
                        <a:t>PwnKit</a:t>
                      </a:r>
                      <a:endParaRPr lang="en-US" sz="1600" dirty="0"/>
                    </a:p>
                    <a:p>
                      <a:pPr marL="285750" indent="-285750">
                        <a:buFont typeface="Arial" panose="020B0604020202020204" pitchFamily="34" charset="0"/>
                        <a:buChar char="•"/>
                      </a:pPr>
                      <a:r>
                        <a:rPr lang="en-US" sz="1600" dirty="0"/>
                        <a:t>Exploiting services </a:t>
                      </a:r>
                    </a:p>
                    <a:p>
                      <a:pPr marL="285750" indent="-285750">
                        <a:buFont typeface="Arial" panose="020B0604020202020204" pitchFamily="34" charset="0"/>
                        <a:buChar char="•"/>
                      </a:pPr>
                      <a:r>
                        <a:rPr lang="en-US" sz="1600" dirty="0"/>
                        <a:t>Exploiting SUID injectables</a:t>
                      </a:r>
                    </a:p>
                    <a:p>
                      <a:pPr marL="285750" indent="-285750">
                        <a:buFont typeface="Arial" panose="020B0604020202020204" pitchFamily="34" charset="0"/>
                        <a:buChar char="•"/>
                      </a:pPr>
                      <a:r>
                        <a:rPr lang="en-US" sz="1600" dirty="0"/>
                        <a:t>Writable Sockets</a:t>
                      </a:r>
                    </a:p>
                    <a:p>
                      <a:pPr marL="285750" indent="-285750">
                        <a:buFont typeface="Arial" panose="020B0604020202020204" pitchFamily="34" charset="0"/>
                        <a:buChar char="•"/>
                      </a:pPr>
                      <a:r>
                        <a:rPr lang="en-US" sz="1600" dirty="0"/>
                        <a:t>Exploiting Cronjobs</a:t>
                      </a:r>
                    </a:p>
                    <a:p>
                      <a:pPr marL="285750" indent="-285750">
                        <a:buFont typeface="Arial" panose="020B0604020202020204" pitchFamily="34" charset="0"/>
                        <a:buChar char="•"/>
                      </a:pPr>
                      <a:r>
                        <a:rPr lang="en-US" sz="1600" dirty="0"/>
                        <a:t>Abusing Writable Paths</a:t>
                      </a:r>
                    </a:p>
                    <a:p>
                      <a:pPr marL="285750" indent="-285750">
                        <a:buFont typeface="Arial" panose="020B0604020202020204" pitchFamily="34" charset="0"/>
                        <a:buChar char="•"/>
                      </a:pPr>
                      <a:r>
                        <a:rPr lang="en-US" sz="1600" dirty="0" err="1"/>
                        <a:t>Tmux</a:t>
                      </a:r>
                      <a:r>
                        <a:rPr lang="en-US" sz="1600" dirty="0"/>
                        <a:t>, Screen sessions takeover</a:t>
                      </a:r>
                    </a:p>
                    <a:p>
                      <a:pPr marL="285750" indent="-285750">
                        <a:buFont typeface="Arial" panose="020B0604020202020204" pitchFamily="34" charset="0"/>
                        <a:buChar char="•"/>
                      </a:pPr>
                      <a:r>
                        <a:rPr lang="en-US" sz="1600" dirty="0"/>
                        <a:t>Exploiting writable paths</a:t>
                      </a:r>
                    </a:p>
                    <a:p>
                      <a:pPr marL="285750" indent="-285750">
                        <a:buFont typeface="Arial" panose="020B0604020202020204" pitchFamily="34" charset="0"/>
                        <a:buChar char="•"/>
                      </a:pPr>
                      <a:r>
                        <a:rPr lang="en-US" sz="1600" dirty="0"/>
                        <a:t>Exploiting capabilities</a:t>
                      </a:r>
                    </a:p>
                  </a:txBody>
                  <a:tcPr/>
                </a:tc>
                <a:extLst>
                  <a:ext uri="{0D108BD9-81ED-4DB2-BD59-A6C34878D82A}">
                    <a16:rowId xmlns:a16="http://schemas.microsoft.com/office/drawing/2014/main" val="1332073933"/>
                  </a:ext>
                </a:extLst>
              </a:tr>
            </a:tbl>
          </a:graphicData>
        </a:graphic>
      </p:graphicFrame>
    </p:spTree>
    <p:extLst>
      <p:ext uri="{BB962C8B-B14F-4D97-AF65-F5344CB8AC3E}">
        <p14:creationId xmlns:p14="http://schemas.microsoft.com/office/powerpoint/2010/main" val="855272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F7E1A-4726-4A4D-936E-1547410B3991}"/>
              </a:ext>
            </a:extLst>
          </p:cNvPr>
          <p:cNvSpPr>
            <a:spLocks noGrp="1"/>
          </p:cNvSpPr>
          <p:nvPr>
            <p:ph type="title"/>
          </p:nvPr>
        </p:nvSpPr>
        <p:spPr>
          <a:xfrm>
            <a:off x="3124200" y="1981200"/>
            <a:ext cx="7696200" cy="1295400"/>
          </a:xfrm>
        </p:spPr>
        <p:txBody>
          <a:bodyPr/>
          <a:lstStyle/>
          <a:p>
            <a:r>
              <a:rPr lang="en-US" dirty="0"/>
              <a:t>THANK YOU</a:t>
            </a:r>
          </a:p>
        </p:txBody>
      </p:sp>
      <p:sp>
        <p:nvSpPr>
          <p:cNvPr id="3" name="Content Placeholder 2">
            <a:extLst>
              <a:ext uri="{FF2B5EF4-FFF2-40B4-BE49-F238E27FC236}">
                <a16:creationId xmlns:a16="http://schemas.microsoft.com/office/drawing/2014/main" id="{57D24D5D-0235-41C0-B7A5-8534D08ABD25}"/>
              </a:ext>
            </a:extLst>
          </p:cNvPr>
          <p:cNvSpPr>
            <a:spLocks noGrp="1"/>
          </p:cNvSpPr>
          <p:nvPr>
            <p:ph idx="1"/>
          </p:nvPr>
        </p:nvSpPr>
        <p:spPr/>
        <p:txBody>
          <a:bodyPr>
            <a:normAutofit/>
          </a:bodyPr>
          <a:lstStyle/>
          <a:p>
            <a:endParaRPr lang="en-US" sz="3600" b="0" i="0" dirty="0">
              <a:solidFill>
                <a:srgbClr val="000000"/>
              </a:solidFill>
              <a:effectLst/>
            </a:endParaRPr>
          </a:p>
          <a:p>
            <a:endParaRPr lang="en-US" dirty="0"/>
          </a:p>
        </p:txBody>
      </p:sp>
    </p:spTree>
    <p:extLst>
      <p:ext uri="{BB962C8B-B14F-4D97-AF65-F5344CB8AC3E}">
        <p14:creationId xmlns:p14="http://schemas.microsoft.com/office/powerpoint/2010/main" val="857171973"/>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training slides</Template>
  <TotalTime>200</TotalTime>
  <Words>1354</Words>
  <Application>Microsoft Office PowerPoint</Application>
  <PresentationFormat>On-screen Show (4:3)</PresentationFormat>
  <Paragraphs>121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Sales training presentation</vt:lpstr>
      <vt:lpstr>OFFENSIVE SYSTEM AND NETWORK SECURITY</vt:lpstr>
      <vt:lpstr>Agenda</vt:lpstr>
      <vt:lpstr>Who am i?</vt:lpstr>
      <vt:lpstr>Quick Recap of Nmap scans</vt:lpstr>
      <vt:lpstr>Pivoting &amp; Tunneling</vt:lpstr>
      <vt:lpstr>Ways to Pivot into network</vt:lpstr>
      <vt:lpstr>Pivoting using HTTP Agents</vt:lpstr>
      <vt:lpstr>Pivoting using HTTP Agents</vt:lpstr>
      <vt:lpstr>Let’s Pivot :D !!!</vt:lpstr>
      <vt:lpstr>PowerPoint Presentation</vt:lpstr>
      <vt:lpstr>NAC(Network Access Controls) Implementation</vt:lpstr>
      <vt:lpstr>NAC BYPASSES</vt:lpstr>
      <vt:lpstr>MAC(Media Access Control) Spoofing</vt:lpstr>
      <vt:lpstr>MSCHAP-V2 Authentication</vt:lpstr>
      <vt:lpstr>Eg. Physical Breach To Domain Admin</vt:lpstr>
      <vt:lpstr>PowerPoint Presentation</vt:lpstr>
      <vt:lpstr>Privilege Escalation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OFFENSIVE SYSTEM AND NETWORK SECURITY</dc:title>
  <dc:creator>Manan Jain</dc:creator>
  <cp:lastModifiedBy>Manan Jain</cp:lastModifiedBy>
  <cp:revision>2</cp:revision>
  <dcterms:created xsi:type="dcterms:W3CDTF">2024-08-31T04:37:24Z</dcterms:created>
  <dcterms:modified xsi:type="dcterms:W3CDTF">2024-09-01T18:41:04Z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